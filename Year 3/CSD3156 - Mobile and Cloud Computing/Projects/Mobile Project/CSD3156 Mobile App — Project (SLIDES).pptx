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
      <p:font typeface="Lato Black"/>
      <p:bold r:id="rId27"/>
      <p:boldItalic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LatoBlack-boldItalic.fntdata"/><Relationship Id="rId27" Type="http://schemas.openxmlformats.org/officeDocument/2006/relationships/font" Target="fonts/LatoBlack-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we are team id 14,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be presenting on how app TinyCell, a carousell-Inspired </a:t>
            </a:r>
            <a:r>
              <a:rPr lang="en"/>
              <a:t>marketplace app,</a:t>
            </a:r>
            <a:endParaRPr/>
          </a:p>
          <a:p>
            <a:pPr indent="0" lvl="0" marL="0" rtl="0" algn="l">
              <a:spcBef>
                <a:spcPts val="0"/>
              </a:spcBef>
              <a:spcAft>
                <a:spcPts val="0"/>
              </a:spcAft>
              <a:buNone/>
            </a:pPr>
            <a:r>
              <a:rPr lang="en"/>
              <a:t>In our team, we have Bryan, kang Ting, Sam, Steven and Me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6ac0a4f6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6ac0a4f6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6ac0a4f61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86ac0a4f61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595959"/>
                </a:solidFill>
                <a:latin typeface="Lato"/>
                <a:ea typeface="Lato"/>
                <a:cs typeface="Lato"/>
                <a:sym typeface="Lato"/>
              </a:rPr>
              <a:t>“We built a full buyer-seller transaction loop using MVVM, Room, and Firebase.”</a:t>
            </a:r>
            <a:endParaRPr sz="1600">
              <a:solidFill>
                <a:srgbClr val="595959"/>
              </a:solidFill>
              <a:latin typeface="Lato"/>
              <a:ea typeface="Lato"/>
              <a:cs typeface="Lato"/>
              <a:sym typeface="Lato"/>
            </a:endParaRPr>
          </a:p>
          <a:p>
            <a:pPr indent="0" lvl="0" marL="0" rtl="0" algn="l">
              <a:spcBef>
                <a:spcPts val="0"/>
              </a:spcBef>
              <a:spcAft>
                <a:spcPts val="0"/>
              </a:spcAft>
              <a:buNone/>
            </a:pPr>
            <a:r>
              <a:rPr lang="en" sz="1600">
                <a:solidFill>
                  <a:srgbClr val="595959"/>
                </a:solidFill>
                <a:latin typeface="Lato"/>
                <a:ea typeface="Lato"/>
                <a:cs typeface="Lato"/>
                <a:sym typeface="Lato"/>
              </a:rPr>
              <a:t>Browse → Chat → Offer → Accept → Review</a:t>
            </a:r>
            <a:endParaRPr sz="1600">
              <a:solidFill>
                <a:srgbClr val="595959"/>
              </a:solidFill>
              <a:latin typeface="Lato"/>
              <a:ea typeface="Lato"/>
              <a:cs typeface="Lato"/>
              <a:sym typeface="Lato"/>
            </a:endParaRPr>
          </a:p>
          <a:p>
            <a:pPr indent="0" lvl="0" marL="0" rtl="0" algn="l">
              <a:spcBef>
                <a:spcPts val="0"/>
              </a:spcBef>
              <a:spcAft>
                <a:spcPts val="0"/>
              </a:spcAft>
              <a:buNone/>
            </a:pPr>
            <a:r>
              <a:rPr lang="en" sz="1600">
                <a:solidFill>
                  <a:srgbClr val="595959"/>
                </a:solidFill>
                <a:latin typeface="Lato"/>
                <a:ea typeface="Lato"/>
                <a:cs typeface="Lato"/>
                <a:sym typeface="Lato"/>
              </a:rPr>
              <a:t>“Our goal was to complete the full transaction lifecycle.”</a:t>
            </a:r>
            <a:endParaRPr sz="1600">
              <a:solidFill>
                <a:srgbClr val="595959"/>
              </a:solidFill>
              <a:latin typeface="Lato"/>
              <a:ea typeface="Lato"/>
              <a:cs typeface="Lato"/>
              <a:sym typeface="Lato"/>
            </a:endParaRPr>
          </a:p>
          <a:p>
            <a:pPr indent="0" lvl="0" marL="0" rtl="0" algn="l">
              <a:spcBef>
                <a:spcPts val="0"/>
              </a:spcBef>
              <a:spcAft>
                <a:spcPts val="0"/>
              </a:spcAft>
              <a:buNone/>
            </a:pPr>
            <a:r>
              <a:t/>
            </a:r>
            <a:endParaRPr sz="1600">
              <a:solidFill>
                <a:srgbClr val="595959"/>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600">
              <a:solidFill>
                <a:srgbClr val="595959"/>
              </a:solidFill>
              <a:latin typeface="Lato"/>
              <a:ea typeface="Lato"/>
              <a:cs typeface="Lato"/>
              <a:sym typeface="La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6ac0a4f6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6ac0a4f6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6ac0a4f6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6ac0a4f6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50">
                <a:solidFill>
                  <a:schemeClr val="dk1"/>
                </a:solidFill>
              </a:rPr>
              <a:t>I'll be explaining how we implemented the MVVM architecture in our TinyCell marketplace app, and specifically how data flows through our application.</a:t>
            </a:r>
            <a:endParaRPr sz="10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50">
                <a:solidFill>
                  <a:schemeClr val="dk1"/>
                </a:solidFill>
              </a:rPr>
              <a:t>MVVM stands for </a:t>
            </a:r>
            <a:r>
              <a:rPr b="1" lang="en" sz="1050">
                <a:solidFill>
                  <a:schemeClr val="dk1"/>
                </a:solidFill>
              </a:rPr>
              <a:t>Model-View-ViewModel</a:t>
            </a:r>
            <a:r>
              <a:rPr lang="en" sz="1050">
                <a:solidFill>
                  <a:schemeClr val="dk1"/>
                </a:solidFill>
              </a:rPr>
              <a:t>. It's an architectural pattern that separates our app into three distinct layers:</a:t>
            </a:r>
            <a:endParaRPr sz="1050">
              <a:solidFill>
                <a:schemeClr val="dk1"/>
              </a:solidFill>
            </a:endParaRPr>
          </a:p>
          <a:p>
            <a:pPr indent="-295275" lvl="0" marL="457200" rtl="0" algn="l">
              <a:lnSpc>
                <a:spcPct val="115000"/>
              </a:lnSpc>
              <a:spcBef>
                <a:spcPts val="1200"/>
              </a:spcBef>
              <a:spcAft>
                <a:spcPts val="0"/>
              </a:spcAft>
              <a:buClr>
                <a:schemeClr val="dk1"/>
              </a:buClr>
              <a:buSzPts val="1050"/>
              <a:buChar char="●"/>
            </a:pPr>
            <a:r>
              <a:rPr b="1" lang="en" sz="1050">
                <a:solidFill>
                  <a:schemeClr val="dk1"/>
                </a:solidFill>
              </a:rPr>
              <a:t>Model</a:t>
            </a:r>
            <a:r>
              <a:rPr lang="en" sz="1050">
                <a:solidFill>
                  <a:schemeClr val="dk1"/>
                </a:solidFill>
              </a:rPr>
              <a:t>: Our data layer - the Room database and Firebase repositories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b="1" lang="en" sz="1050">
                <a:solidFill>
                  <a:schemeClr val="dk1"/>
                </a:solidFill>
              </a:rPr>
              <a:t>View</a:t>
            </a:r>
            <a:r>
              <a:rPr lang="en" sz="1050">
                <a:solidFill>
                  <a:schemeClr val="dk1"/>
                </a:solidFill>
              </a:rPr>
              <a:t>: Our UI layer - built with Jetpack Compose</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b="1" lang="en" sz="1050">
                <a:solidFill>
                  <a:schemeClr val="dk1"/>
                </a:solidFill>
              </a:rPr>
              <a:t>ViewModel</a:t>
            </a:r>
            <a:r>
              <a:rPr lang="en" sz="1050">
                <a:solidFill>
                  <a:schemeClr val="dk1"/>
                </a:solidFill>
              </a:rPr>
              <a:t>: The bridge that manages UI state and business logic</a:t>
            </a:r>
            <a:endParaRPr sz="1050">
              <a:solidFill>
                <a:schemeClr val="dk1"/>
              </a:solidFill>
            </a:endParaRPr>
          </a:p>
          <a:p>
            <a:pPr indent="0" lvl="0" marL="0" rtl="0" algn="l">
              <a:lnSpc>
                <a:spcPct val="115000"/>
              </a:lnSpc>
              <a:spcBef>
                <a:spcPts val="700"/>
              </a:spcBef>
              <a:spcAft>
                <a:spcPts val="0"/>
              </a:spcAft>
              <a:buClr>
                <a:schemeClr val="dk1"/>
              </a:buClr>
              <a:buSzPts val="1100"/>
              <a:buFont typeface="Arial"/>
              <a:buNone/>
            </a:pPr>
            <a:r>
              <a:rPr lang="en" sz="1050">
                <a:solidFill>
                  <a:schemeClr val="dk1"/>
                </a:solidFill>
              </a:rPr>
              <a:t>The key advantage of MVVM is </a:t>
            </a:r>
            <a:r>
              <a:rPr b="1" lang="en" sz="1050">
                <a:solidFill>
                  <a:schemeClr val="dk1"/>
                </a:solidFill>
              </a:rPr>
              <a:t>separation of concerns</a:t>
            </a:r>
            <a:r>
              <a:rPr lang="en" sz="1050">
                <a:solidFill>
                  <a:schemeClr val="dk1"/>
                </a:solidFill>
              </a:rPr>
              <a:t> - each layer has a single, well-defined responsibility.</a:t>
            </a:r>
            <a:endParaRPr sz="1050">
              <a:solidFill>
                <a:schemeClr val="dk1"/>
              </a:solidFill>
            </a:endParaRPr>
          </a:p>
          <a:p>
            <a:pPr indent="0" lvl="0" marL="0" rtl="0" algn="l">
              <a:lnSpc>
                <a:spcPct val="125000"/>
              </a:lnSpc>
              <a:spcBef>
                <a:spcPts val="1800"/>
              </a:spcBef>
              <a:spcAft>
                <a:spcPts val="0"/>
              </a:spcAft>
              <a:buClr>
                <a:schemeClr val="dk1"/>
              </a:buClr>
              <a:buSzPts val="1100"/>
              <a:buFont typeface="Arial"/>
              <a:buNone/>
            </a:pPr>
            <a:r>
              <a:rPr lang="en" sz="1650">
                <a:solidFill>
                  <a:schemeClr val="dk1"/>
                </a:solidFill>
              </a:rPr>
              <a:t>Understanding "Single Source of Truth"</a:t>
            </a:r>
            <a:endParaRPr sz="16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50">
                <a:solidFill>
                  <a:schemeClr val="dk1"/>
                </a:solidFill>
              </a:rPr>
              <a:t>In our architecture, we have </a:t>
            </a:r>
            <a:r>
              <a:rPr b="1" lang="en" sz="1050">
                <a:solidFill>
                  <a:schemeClr val="dk1"/>
                </a:solidFill>
              </a:rPr>
              <a:t>two different "single sources of truth"</a:t>
            </a:r>
            <a:r>
              <a:rPr lang="en" sz="1050">
                <a:solidFill>
                  <a:schemeClr val="dk1"/>
                </a:solidFill>
              </a:rPr>
              <a:t>:</a:t>
            </a:r>
            <a:endParaRPr sz="1050">
              <a:solidFill>
                <a:schemeClr val="dk1"/>
              </a:solidFill>
            </a:endParaRPr>
          </a:p>
          <a:p>
            <a:pPr indent="-295275" lvl="0" marL="457200" rtl="0" algn="l">
              <a:lnSpc>
                <a:spcPct val="115000"/>
              </a:lnSpc>
              <a:spcBef>
                <a:spcPts val="1200"/>
              </a:spcBef>
              <a:spcAft>
                <a:spcPts val="0"/>
              </a:spcAft>
              <a:buClr>
                <a:schemeClr val="dk1"/>
              </a:buClr>
              <a:buSzPts val="1050"/>
              <a:buAutoNum type="arabicPeriod"/>
            </a:pPr>
            <a:r>
              <a:rPr b="1" lang="en" sz="1050">
                <a:solidFill>
                  <a:schemeClr val="dk1"/>
                </a:solidFill>
              </a:rPr>
              <a:t>ViewModel</a:t>
            </a:r>
            <a:r>
              <a:rPr lang="en" sz="1050">
                <a:solidFill>
                  <a:schemeClr val="dk1"/>
                </a:solidFill>
              </a:rPr>
              <a:t> = Single source of truth for </a:t>
            </a:r>
            <a:r>
              <a:rPr b="1" lang="en" sz="1050">
                <a:solidFill>
                  <a:schemeClr val="dk1"/>
                </a:solidFill>
              </a:rPr>
              <a:t>UI State</a:t>
            </a:r>
            <a:endParaRPr b="1" sz="1050">
              <a:solidFill>
                <a:schemeClr val="dk1"/>
              </a:solidFill>
            </a:endParaRPr>
          </a:p>
          <a:p>
            <a:pPr indent="-295275" lvl="1" marL="914400" rtl="0" algn="l">
              <a:lnSpc>
                <a:spcPct val="115000"/>
              </a:lnSpc>
              <a:spcBef>
                <a:spcPts val="0"/>
              </a:spcBef>
              <a:spcAft>
                <a:spcPts val="0"/>
              </a:spcAft>
              <a:buClr>
                <a:schemeClr val="dk1"/>
              </a:buClr>
              <a:buSzPts val="1050"/>
              <a:buChar char="○"/>
            </a:pPr>
            <a:r>
              <a:rPr lang="en" sz="1050">
                <a:solidFill>
                  <a:schemeClr val="dk1"/>
                </a:solidFill>
              </a:rPr>
              <a:t>All UI state (what the user sees) lives in the ViewModel</a:t>
            </a:r>
            <a:endParaRPr sz="1050">
              <a:solidFill>
                <a:schemeClr val="dk1"/>
              </a:solidFill>
            </a:endParaRPr>
          </a:p>
          <a:p>
            <a:pPr indent="-295275" lvl="1" marL="914400" rtl="0" algn="l">
              <a:lnSpc>
                <a:spcPct val="115000"/>
              </a:lnSpc>
              <a:spcBef>
                <a:spcPts val="0"/>
              </a:spcBef>
              <a:spcAft>
                <a:spcPts val="0"/>
              </a:spcAft>
              <a:buClr>
                <a:schemeClr val="dk1"/>
              </a:buClr>
              <a:buSzPts val="1050"/>
              <a:buChar char="○"/>
            </a:pPr>
            <a:r>
              <a:rPr lang="en" sz="1050">
                <a:solidFill>
                  <a:schemeClr val="dk1"/>
                </a:solidFill>
              </a:rPr>
              <a:t>The UI never manages its own state - it only observes the ViewModel</a:t>
            </a:r>
            <a:endParaRPr sz="1050">
              <a:solidFill>
                <a:schemeClr val="dk1"/>
              </a:solidFill>
            </a:endParaRPr>
          </a:p>
          <a:p>
            <a:pPr indent="-295275" lvl="0" marL="457200" rtl="0" algn="l">
              <a:lnSpc>
                <a:spcPct val="115000"/>
              </a:lnSpc>
              <a:spcBef>
                <a:spcPts val="0"/>
              </a:spcBef>
              <a:spcAft>
                <a:spcPts val="0"/>
              </a:spcAft>
              <a:buClr>
                <a:schemeClr val="dk1"/>
              </a:buClr>
              <a:buSzPts val="1050"/>
              <a:buAutoNum type="arabicPeriod"/>
            </a:pPr>
            <a:r>
              <a:rPr b="1" lang="en" sz="1050">
                <a:solidFill>
                  <a:schemeClr val="dk1"/>
                </a:solidFill>
              </a:rPr>
              <a:t>Repository</a:t>
            </a:r>
            <a:r>
              <a:rPr lang="en" sz="1050">
                <a:solidFill>
                  <a:schemeClr val="dk1"/>
                </a:solidFill>
              </a:rPr>
              <a:t> = Single source of truth for </a:t>
            </a:r>
            <a:r>
              <a:rPr b="1" lang="en" sz="1050">
                <a:solidFill>
                  <a:schemeClr val="dk1"/>
                </a:solidFill>
              </a:rPr>
              <a:t>Data</a:t>
            </a:r>
            <a:endParaRPr b="1" sz="1050">
              <a:solidFill>
                <a:schemeClr val="dk1"/>
              </a:solidFill>
            </a:endParaRPr>
          </a:p>
          <a:p>
            <a:pPr indent="-295275" lvl="1" marL="914400" rtl="0" algn="l">
              <a:lnSpc>
                <a:spcPct val="115000"/>
              </a:lnSpc>
              <a:spcBef>
                <a:spcPts val="0"/>
              </a:spcBef>
              <a:spcAft>
                <a:spcPts val="0"/>
              </a:spcAft>
              <a:buClr>
                <a:schemeClr val="dk1"/>
              </a:buClr>
              <a:buSzPts val="1050"/>
              <a:buChar char="○"/>
            </a:pPr>
            <a:r>
              <a:rPr lang="en" sz="1050">
                <a:solidFill>
                  <a:schemeClr val="dk1"/>
                </a:solidFill>
              </a:rPr>
              <a:t>Abstracts whether data comes from local (Room) or remote (Firebase)</a:t>
            </a:r>
            <a:endParaRPr sz="1050">
              <a:solidFill>
                <a:schemeClr val="dk1"/>
              </a:solidFill>
            </a:endParaRPr>
          </a:p>
          <a:p>
            <a:pPr indent="-295275" lvl="1" marL="914400" rtl="0" algn="l">
              <a:lnSpc>
                <a:spcPct val="115000"/>
              </a:lnSpc>
              <a:spcBef>
                <a:spcPts val="0"/>
              </a:spcBef>
              <a:spcAft>
                <a:spcPts val="0"/>
              </a:spcAft>
              <a:buClr>
                <a:schemeClr val="dk1"/>
              </a:buClr>
              <a:buSzPts val="1050"/>
              <a:buChar char="○"/>
            </a:pPr>
            <a:r>
              <a:rPr lang="en" sz="1050">
                <a:solidFill>
                  <a:schemeClr val="dk1"/>
                </a:solidFill>
              </a:rPr>
              <a:t>The ViewModel doesn't care where data comes from - it just asks the Repository</a:t>
            </a:r>
            <a:endParaRPr sz="105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n" sz="1050">
                <a:solidFill>
                  <a:schemeClr val="dk1"/>
                </a:solidFill>
              </a:rPr>
              <a:t>This separation ensures consistency: UI state is always predictable, and data access is always centralized.</a:t>
            </a:r>
            <a:endParaRPr sz="10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050">
                <a:solidFill>
                  <a:schemeClr val="dk1"/>
                </a:solidFill>
              </a:rPr>
              <a:t>In our app, we follow a strict </a:t>
            </a:r>
            <a:r>
              <a:rPr b="1" lang="en" sz="1050">
                <a:solidFill>
                  <a:schemeClr val="dk1"/>
                </a:solidFill>
              </a:rPr>
              <a:t>unidirectional data flow pattern</a:t>
            </a:r>
            <a:r>
              <a:rPr lang="en" sz="1050">
                <a:solidFill>
                  <a:schemeClr val="dk1"/>
                </a:solidFill>
              </a:rPr>
              <a:t>. Think of it like a one-way street:</a:t>
            </a:r>
            <a:endParaRPr sz="1050">
              <a:solidFill>
                <a:schemeClr val="dk1"/>
              </a:solidFill>
            </a:endParaRPr>
          </a:p>
          <a:p>
            <a:pPr indent="0" lvl="0" marL="0" rtl="0" algn="l">
              <a:lnSpc>
                <a:spcPct val="125000"/>
              </a:lnSpc>
              <a:spcBef>
                <a:spcPts val="1800"/>
              </a:spcBef>
              <a:spcAft>
                <a:spcPts val="0"/>
              </a:spcAft>
              <a:buClr>
                <a:schemeClr val="dk1"/>
              </a:buClr>
              <a:buSzPts val="1100"/>
              <a:buFont typeface="Arial"/>
              <a:buNone/>
            </a:pPr>
            <a:r>
              <a:rPr lang="en" sz="1650">
                <a:solidFill>
                  <a:schemeClr val="dk1"/>
                </a:solidFill>
              </a:rPr>
              <a:t>Downward Flow: State flows from ViewModel to UI</a:t>
            </a:r>
            <a:endParaRPr sz="1650">
              <a:solidFill>
                <a:schemeClr val="dk1"/>
              </a:solidFill>
            </a:endParaRPr>
          </a:p>
          <a:p>
            <a:pPr indent="-295275" lvl="0" marL="457200" rtl="0" algn="l">
              <a:lnSpc>
                <a:spcPct val="115000"/>
              </a:lnSpc>
              <a:spcBef>
                <a:spcPts val="1200"/>
              </a:spcBef>
              <a:spcAft>
                <a:spcPts val="0"/>
              </a:spcAft>
              <a:buClr>
                <a:schemeClr val="dk1"/>
              </a:buClr>
              <a:buSzPts val="1050"/>
              <a:buChar char="●"/>
            </a:pPr>
            <a:r>
              <a:rPr lang="en" sz="1050">
                <a:solidFill>
                  <a:schemeClr val="dk1"/>
                </a:solidFill>
              </a:rPr>
              <a:t>The ViewModel is the </a:t>
            </a:r>
            <a:r>
              <a:rPr b="1" lang="en" sz="1050">
                <a:solidFill>
                  <a:schemeClr val="dk1"/>
                </a:solidFill>
              </a:rPr>
              <a:t>single source of truth for UI state</a:t>
            </a:r>
            <a:endParaRPr b="1"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State is exposed through </a:t>
            </a:r>
            <a:r>
              <a:rPr b="1" lang="en" sz="1050">
                <a:solidFill>
                  <a:schemeClr val="dk1"/>
                </a:solidFill>
              </a:rPr>
              <a:t>StateFlow</a:t>
            </a:r>
            <a:r>
              <a:rPr lang="en" sz="1050">
                <a:solidFill>
                  <a:schemeClr val="dk1"/>
                </a:solidFill>
              </a:rPr>
              <a:t> and </a:t>
            </a:r>
            <a:r>
              <a:rPr b="1" lang="en" sz="1050">
                <a:solidFill>
                  <a:schemeClr val="dk1"/>
                </a:solidFill>
              </a:rPr>
              <a:t>Flow</a:t>
            </a:r>
            <a:r>
              <a:rPr lang="en" sz="1050">
                <a:solidFill>
                  <a:schemeClr val="dk1"/>
                </a:solidFill>
              </a:rPr>
              <a:t> objects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The UI </a:t>
            </a:r>
            <a:r>
              <a:rPr b="1" lang="en" sz="1050">
                <a:solidFill>
                  <a:schemeClr val="dk1"/>
                </a:solidFill>
              </a:rPr>
              <a:t>observes</a:t>
            </a:r>
            <a:r>
              <a:rPr lang="en" sz="1050">
                <a:solidFill>
                  <a:schemeClr val="dk1"/>
                </a:solidFill>
              </a:rPr>
              <a:t> these flows and automatically recomposes when data changes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The UI never stores its own state - it's completely stateless</a:t>
            </a:r>
            <a:endParaRPr sz="1050">
              <a:solidFill>
                <a:schemeClr val="dk1"/>
              </a:solidFill>
            </a:endParaRPr>
          </a:p>
          <a:p>
            <a:pPr indent="0" lvl="0" marL="0" rtl="0" algn="l">
              <a:lnSpc>
                <a:spcPct val="125000"/>
              </a:lnSpc>
              <a:spcBef>
                <a:spcPts val="1800"/>
              </a:spcBef>
              <a:spcAft>
                <a:spcPts val="0"/>
              </a:spcAft>
              <a:buClr>
                <a:schemeClr val="dk1"/>
              </a:buClr>
              <a:buSzPts val="1100"/>
              <a:buFont typeface="Arial"/>
              <a:buNone/>
            </a:pPr>
            <a:r>
              <a:rPr lang="en" sz="1650">
                <a:solidFill>
                  <a:schemeClr val="dk1"/>
                </a:solidFill>
              </a:rPr>
              <a:t>Upward Flow: Events flow from UI to ViewModel</a:t>
            </a:r>
            <a:endParaRPr sz="1650">
              <a:solidFill>
                <a:schemeClr val="dk1"/>
              </a:solidFill>
            </a:endParaRPr>
          </a:p>
          <a:p>
            <a:pPr indent="-295275" lvl="0" marL="457200" rtl="0" algn="l">
              <a:lnSpc>
                <a:spcPct val="115000"/>
              </a:lnSpc>
              <a:spcBef>
                <a:spcPts val="1200"/>
              </a:spcBef>
              <a:spcAft>
                <a:spcPts val="0"/>
              </a:spcAft>
              <a:buClr>
                <a:schemeClr val="dk1"/>
              </a:buClr>
              <a:buSzPts val="1050"/>
              <a:buChar char="●"/>
            </a:pPr>
            <a:r>
              <a:rPr lang="en" sz="1050">
                <a:solidFill>
                  <a:schemeClr val="dk1"/>
                </a:solidFill>
              </a:rPr>
              <a:t>User interactions trigger </a:t>
            </a:r>
            <a:r>
              <a:rPr b="1" lang="en" sz="1050">
                <a:solidFill>
                  <a:schemeClr val="dk1"/>
                </a:solidFill>
              </a:rPr>
              <a:t>event callbacks</a:t>
            </a:r>
            <a:endParaRPr b="1"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These events are passed up to the ViewModel as function calls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The ViewModel processes the event and updates the state</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State update triggers downward flow again</a:t>
            </a:r>
            <a:endParaRPr sz="1050">
              <a:solidFill>
                <a:schemeClr val="dk1"/>
              </a:solidFill>
            </a:endParaRPr>
          </a:p>
          <a:p>
            <a:pPr indent="0" lvl="0" marL="0" rtl="0" algn="l">
              <a:lnSpc>
                <a:spcPct val="125000"/>
              </a:lnSpc>
              <a:spcBef>
                <a:spcPts val="1800"/>
              </a:spcBef>
              <a:spcAft>
                <a:spcPts val="0"/>
              </a:spcAft>
              <a:buClr>
                <a:schemeClr val="dk1"/>
              </a:buClr>
              <a:buSzPts val="1100"/>
              <a:buFont typeface="Arial"/>
              <a:buNone/>
            </a:pPr>
            <a:r>
              <a:rPr lang="en" sz="1650">
                <a:solidFill>
                  <a:schemeClr val="dk1"/>
                </a:solidFill>
              </a:rPr>
              <a:t>The Repository Layer</a:t>
            </a:r>
            <a:endParaRPr sz="1650">
              <a:solidFill>
                <a:schemeClr val="dk1"/>
              </a:solidFill>
            </a:endParaRPr>
          </a:p>
          <a:p>
            <a:pPr indent="-295275" lvl="0" marL="457200" rtl="0" algn="l">
              <a:lnSpc>
                <a:spcPct val="115000"/>
              </a:lnSpc>
              <a:spcBef>
                <a:spcPts val="1200"/>
              </a:spcBef>
              <a:spcAft>
                <a:spcPts val="0"/>
              </a:spcAft>
              <a:buClr>
                <a:schemeClr val="dk1"/>
              </a:buClr>
              <a:buSzPts val="1050"/>
              <a:buChar char="●"/>
            </a:pPr>
            <a:r>
              <a:rPr lang="en" sz="1050">
                <a:solidFill>
                  <a:schemeClr val="dk1"/>
                </a:solidFill>
              </a:rPr>
              <a:t>Repository is the </a:t>
            </a:r>
            <a:r>
              <a:rPr b="1" lang="en" sz="1050">
                <a:solidFill>
                  <a:schemeClr val="dk1"/>
                </a:solidFill>
              </a:rPr>
              <a:t>single source of truth for data</a:t>
            </a:r>
            <a:endParaRPr b="1"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It abstracts local (Room SQLite) and remote (Firebase) data sources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ViewModel calls Repository functions via suspend functions or Flows</a:t>
            </a:r>
            <a:endParaRPr sz="1050">
              <a:solidFill>
                <a:schemeClr val="dk1"/>
              </a:solidFill>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rPr>
              <a:t>Repository handles sync logic between local and remote</a:t>
            </a:r>
            <a:endParaRPr sz="1050">
              <a:solidFill>
                <a:schemeClr val="dk1"/>
              </a:solidFill>
            </a:endParaRPr>
          </a:p>
          <a:p>
            <a:pPr indent="0" lvl="0" marL="0" rtl="0" algn="l">
              <a:spcBef>
                <a:spcPts val="700"/>
              </a:spcBef>
              <a:spcAft>
                <a:spcPts val="0"/>
              </a:spcAft>
              <a:buNone/>
            </a:pPr>
            <a:r>
              <a:t/>
            </a:r>
            <a:endParaRPr sz="1050">
              <a:solidFill>
                <a:schemeClr val="dk1"/>
              </a:solidFill>
              <a:highlight>
                <a:srgbClr val="1F1F1F"/>
              </a:highlight>
              <a:latin typeface="Courier New"/>
              <a:ea typeface="Courier New"/>
              <a:cs typeface="Courier New"/>
              <a:sym typeface="Courier New"/>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6ac4ee34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6ac4ee34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6ac0a4f61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6ac0a4f61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Talking points:</a:t>
            </a:r>
            <a:endParaRPr/>
          </a:p>
          <a:p>
            <a:pPr indent="-298450" lvl="0" marL="457200" rtl="0" algn="l">
              <a:spcBef>
                <a:spcPts val="0"/>
              </a:spcBef>
              <a:spcAft>
                <a:spcPts val="0"/>
              </a:spcAft>
              <a:buSzPts val="1100"/>
              <a:buChar char="●"/>
            </a:pPr>
            <a:r>
              <a:rPr lang="en"/>
              <a:t>Dual-Write Offline-first: </a:t>
            </a:r>
            <a:r>
              <a:rPr lang="en"/>
              <a:t>writing to both local and remote databases improves data persistence and resilience. It ensures that user can continue have a functional and responsive application even when the connection to remote is interrupted or down. The bidirectional real time remote sync ensures that the data will eventually reach the remote database when the connection is restored.</a:t>
            </a:r>
            <a:endParaRPr/>
          </a:p>
          <a:p>
            <a:pPr indent="-298450" lvl="0" marL="457200" rtl="0" algn="l">
              <a:spcBef>
                <a:spcPts val="0"/>
              </a:spcBef>
              <a:spcAft>
                <a:spcPts val="0"/>
              </a:spcAft>
              <a:buSzPts val="1100"/>
              <a:buChar char="●"/>
            </a:pPr>
            <a:r>
              <a:rPr lang="en"/>
              <a:t>Reactive Programming: stateflow and coroutines ensures that the change is propagated seamlessly when the stateflow is observed or when the coroutines are launched in the background. This provides a seamless and responsive ux</a:t>
            </a:r>
            <a:endParaRPr/>
          </a:p>
          <a:p>
            <a:pPr indent="-298450" lvl="0" marL="457200" rtl="0" algn="l">
              <a:spcBef>
                <a:spcPts val="0"/>
              </a:spcBef>
              <a:spcAft>
                <a:spcPts val="0"/>
              </a:spcAft>
              <a:buSzPts val="1100"/>
              <a:buChar char="●"/>
            </a:pPr>
            <a:r>
              <a:rPr lang="en"/>
              <a:t>Firebase Cloud Storage Management: image compression reduces the file size and the network strain on both endpoints. The batched uploads reduces the overall upload time by overlapping multiple network transfers.</a:t>
            </a:r>
            <a:endParaRPr/>
          </a:p>
          <a:p>
            <a:pPr indent="0" lvl="0" marL="0" rtl="0" algn="l">
              <a:spcBef>
                <a:spcPts val="0"/>
              </a:spcBef>
              <a:spcAft>
                <a:spcPts val="0"/>
              </a:spcAft>
              <a:buNone/>
            </a:pPr>
            <a:r>
              <a:t/>
            </a:r>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These techniques combine to create a </a:t>
            </a:r>
            <a:r>
              <a:rPr b="1" lang="en" sz="1050">
                <a:solidFill>
                  <a:srgbClr val="569CD6"/>
                </a:solidFill>
                <a:highlight>
                  <a:srgbClr val="1F1F1F"/>
                </a:highlight>
                <a:latin typeface="Courier New"/>
                <a:ea typeface="Courier New"/>
                <a:cs typeface="Courier New"/>
                <a:sym typeface="Courier New"/>
              </a:rPr>
              <a:t>**professional-grade experience**</a:t>
            </a:r>
            <a:r>
              <a:rPr lang="en"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 </a:t>
            </a:r>
            <a:r>
              <a:rPr b="1" lang="en" sz="1050">
                <a:solidFill>
                  <a:srgbClr val="569CD6"/>
                </a:solidFill>
                <a:highlight>
                  <a:srgbClr val="1F1F1F"/>
                </a:highlight>
                <a:latin typeface="Courier New"/>
                <a:ea typeface="Courier New"/>
                <a:cs typeface="Courier New"/>
                <a:sym typeface="Courier New"/>
              </a:rPr>
              <a:t>**Offline-first**</a:t>
            </a:r>
            <a:r>
              <a:rPr lang="en" sz="1050">
                <a:solidFill>
                  <a:srgbClr val="CCCCCC"/>
                </a:solidFill>
                <a:highlight>
                  <a:srgbClr val="1F1F1F"/>
                </a:highlight>
                <a:latin typeface="Courier New"/>
                <a:ea typeface="Courier New"/>
                <a:cs typeface="Courier New"/>
                <a:sym typeface="Courier New"/>
              </a:rPr>
              <a:t>: User creates listing on subway → Syncs when they get home</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 </a:t>
            </a:r>
            <a:r>
              <a:rPr b="1" lang="en" sz="1050">
                <a:solidFill>
                  <a:srgbClr val="569CD6"/>
                </a:solidFill>
                <a:highlight>
                  <a:srgbClr val="1F1F1F"/>
                </a:highlight>
                <a:latin typeface="Courier New"/>
                <a:ea typeface="Courier New"/>
                <a:cs typeface="Courier New"/>
                <a:sym typeface="Courier New"/>
              </a:rPr>
              <a:t>**Instant filtering**</a:t>
            </a:r>
            <a:r>
              <a:rPr lang="en" sz="1050">
                <a:solidFill>
                  <a:srgbClr val="CCCCCC"/>
                </a:solidFill>
                <a:highlight>
                  <a:srgbClr val="1F1F1F"/>
                </a:highlight>
                <a:latin typeface="Courier New"/>
                <a:ea typeface="Courier New"/>
                <a:cs typeface="Courier New"/>
                <a:sym typeface="Courier New"/>
              </a:rPr>
              <a:t>: Search feels native, not like a network request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 </a:t>
            </a:r>
            <a:r>
              <a:rPr b="1" lang="en" sz="1050">
                <a:solidFill>
                  <a:srgbClr val="569CD6"/>
                </a:solidFill>
                <a:highlight>
                  <a:srgbClr val="1F1F1F"/>
                </a:highlight>
                <a:latin typeface="Courier New"/>
                <a:ea typeface="Courier New"/>
                <a:cs typeface="Courier New"/>
                <a:sym typeface="Courier New"/>
              </a:rPr>
              <a:t>**Real-time notifications**</a:t>
            </a:r>
            <a:r>
              <a:rPr lang="en" sz="1050">
                <a:solidFill>
                  <a:srgbClr val="CCCCCC"/>
                </a:solidFill>
                <a:highlight>
                  <a:srgbClr val="1F1F1F"/>
                </a:highlight>
                <a:latin typeface="Courier New"/>
                <a:ea typeface="Courier New"/>
                <a:cs typeface="Courier New"/>
                <a:sym typeface="Courier New"/>
              </a:rPr>
              <a:t>: Seller gets offer alert in &lt; 1 second</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 </a:t>
            </a:r>
            <a:r>
              <a:rPr b="1" lang="en" sz="1050">
                <a:solidFill>
                  <a:srgbClr val="569CD6"/>
                </a:solidFill>
                <a:highlight>
                  <a:srgbClr val="1F1F1F"/>
                </a:highlight>
                <a:latin typeface="Courier New"/>
                <a:ea typeface="Courier New"/>
                <a:cs typeface="Courier New"/>
                <a:sym typeface="Courier New"/>
              </a:rPr>
              <a:t>**Fast uploads**</a:t>
            </a:r>
            <a:r>
              <a:rPr lang="en" sz="1050">
                <a:solidFill>
                  <a:srgbClr val="CCCCCC"/>
                </a:solidFill>
                <a:highlight>
                  <a:srgbClr val="1F1F1F"/>
                </a:highlight>
                <a:latin typeface="Courier New"/>
                <a:ea typeface="Courier New"/>
                <a:cs typeface="Courier New"/>
                <a:sym typeface="Courier New"/>
              </a:rPr>
              <a:t>: 3 photos upload in ~2 seconds with compression</a:t>
            </a:r>
            <a:endParaRPr sz="10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CCCCCC"/>
                </a:solidFill>
                <a:highlight>
                  <a:srgbClr val="1F1F1F"/>
                </a:highlight>
                <a:latin typeface="Courier New"/>
                <a:ea typeface="Courier New"/>
                <a:cs typeface="Courier New"/>
                <a:sym typeface="Courier New"/>
              </a:rPr>
              <a:t>🔄 </a:t>
            </a:r>
            <a:r>
              <a:rPr b="1" lang="en" sz="1050">
                <a:solidFill>
                  <a:srgbClr val="569CD6"/>
                </a:solidFill>
                <a:highlight>
                  <a:srgbClr val="1F1F1F"/>
                </a:highlight>
                <a:latin typeface="Courier New"/>
                <a:ea typeface="Courier New"/>
                <a:cs typeface="Courier New"/>
                <a:sym typeface="Courier New"/>
              </a:rPr>
              <a:t>**Multi-device sync**</a:t>
            </a:r>
            <a:r>
              <a:rPr lang="en" sz="1050">
                <a:solidFill>
                  <a:srgbClr val="CCCCCC"/>
                </a:solidFill>
                <a:highlight>
                  <a:srgbClr val="1F1F1F"/>
                </a:highlight>
                <a:latin typeface="Courier New"/>
                <a:ea typeface="Courier New"/>
                <a:cs typeface="Courier New"/>
                <a:sym typeface="Courier New"/>
              </a:rPr>
              <a:t>: Edit on phone → See changes on tablet instantly</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Prob just gonna do data persistence and resilience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300">
                <a:solidFill>
                  <a:srgbClr val="595959"/>
                </a:solidFill>
                <a:latin typeface="Lato"/>
                <a:ea typeface="Lato"/>
                <a:cs typeface="Lato"/>
                <a:sym typeface="Lato"/>
              </a:rPr>
              <a:t>Choose one</a:t>
            </a:r>
            <a:endParaRPr sz="1300">
              <a:solidFill>
                <a:srgbClr val="595959"/>
              </a:solidFill>
              <a:latin typeface="Lato"/>
              <a:ea typeface="Lato"/>
              <a:cs typeface="Lato"/>
              <a:sym typeface="Lato"/>
            </a:endParaRPr>
          </a:p>
          <a:p>
            <a:pPr indent="-298450" lvl="0" marL="457200" rtl="0" algn="l">
              <a:lnSpc>
                <a:spcPct val="115000"/>
              </a:lnSpc>
              <a:spcBef>
                <a:spcPts val="1200"/>
              </a:spcBef>
              <a:spcAft>
                <a:spcPts val="0"/>
              </a:spcAft>
              <a:buClr>
                <a:schemeClr val="dk1"/>
              </a:buClr>
              <a:buSzPts val="1100"/>
              <a:buChar char="●"/>
            </a:pPr>
            <a:r>
              <a:rPr lang="en" sz="1300">
                <a:solidFill>
                  <a:srgbClr val="595959"/>
                </a:solidFill>
                <a:latin typeface="Lato"/>
                <a:ea typeface="Lato"/>
                <a:cs typeface="Lato"/>
                <a:sym typeface="Lato"/>
              </a:rPr>
              <a:t>Local-first with Room</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Firestore sync</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Dual-write strategy</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Offline resilience</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Coroutines &amp; StateFlow</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Real-time listeners</a:t>
            </a:r>
            <a:endParaRPr sz="1300">
              <a:solidFill>
                <a:srgbClr val="595959"/>
              </a:solidFill>
              <a:latin typeface="Lato"/>
              <a:ea typeface="Lato"/>
              <a:cs typeface="Lato"/>
              <a:sym typeface="Lato"/>
            </a:endParaRPr>
          </a:p>
          <a:p>
            <a:pPr indent="-298450" lvl="0" marL="457200" rtl="0" algn="l">
              <a:lnSpc>
                <a:spcPct val="115000"/>
              </a:lnSpc>
              <a:spcBef>
                <a:spcPts val="0"/>
              </a:spcBef>
              <a:spcAft>
                <a:spcPts val="0"/>
              </a:spcAft>
              <a:buClr>
                <a:schemeClr val="dk1"/>
              </a:buClr>
              <a:buSzPts val="1100"/>
              <a:buChar char="●"/>
            </a:pPr>
            <a:r>
              <a:rPr lang="en" sz="1300">
                <a:solidFill>
                  <a:srgbClr val="595959"/>
                </a:solidFill>
                <a:latin typeface="Lato"/>
                <a:ea typeface="Lato"/>
                <a:cs typeface="Lato"/>
                <a:sym typeface="Lato"/>
              </a:rPr>
              <a:t>Cloud Storage for images</a:t>
            </a:r>
            <a:endParaRPr sz="1300">
              <a:solidFill>
                <a:srgbClr val="595959"/>
              </a:solidFill>
              <a:latin typeface="Lato"/>
              <a:ea typeface="Lato"/>
              <a:cs typeface="Lato"/>
              <a:sym typeface="Lato"/>
            </a:endParaRPr>
          </a:p>
          <a:p>
            <a:pPr indent="0" lvl="0" marL="457200" rtl="0" algn="l">
              <a:lnSpc>
                <a:spcPct val="115000"/>
              </a:lnSpc>
              <a:spcBef>
                <a:spcPts val="1200"/>
              </a:spcBef>
              <a:spcAft>
                <a:spcPts val="1200"/>
              </a:spcAft>
              <a:buNone/>
            </a:pPr>
            <a:r>
              <a:rPr lang="en" sz="1300">
                <a:solidFill>
                  <a:srgbClr val="595959"/>
                </a:solidFill>
                <a:latin typeface="Lato"/>
                <a:ea typeface="Lato"/>
                <a:cs typeface="Lato"/>
                <a:sym typeface="Lato"/>
              </a:rPr>
              <a:t>Should go  find what things are being done on the Coroutines.</a:t>
            </a:r>
            <a:endParaRPr sz="1300">
              <a:solidFill>
                <a:srgbClr val="595959"/>
              </a:solidFill>
              <a:latin typeface="Lato"/>
              <a:ea typeface="Lato"/>
              <a:cs typeface="Lato"/>
              <a:sym typeface="La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6ac0a4f6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6ac0a4f6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6ac0a4f6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6ac0a4f6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Screen recordings:</a:t>
            </a:r>
            <a:endParaRPr/>
          </a:p>
          <a:p>
            <a:pPr indent="-298450" lvl="0" marL="457200" rtl="0" algn="l">
              <a:lnSpc>
                <a:spcPct val="115000"/>
              </a:lnSpc>
              <a:spcBef>
                <a:spcPts val="1200"/>
              </a:spcBef>
              <a:spcAft>
                <a:spcPts val="0"/>
              </a:spcAft>
              <a:buClr>
                <a:schemeClr val="dk1"/>
              </a:buClr>
              <a:buSzPts val="1100"/>
              <a:buAutoNum type="arabicPeriod"/>
            </a:pPr>
            <a:r>
              <a:rPr lang="en"/>
              <a:t>Open chat</a:t>
            </a:r>
            <a:endParaRPr/>
          </a:p>
          <a:p>
            <a:pPr indent="-298450" lvl="0" marL="457200" rtl="0" algn="l">
              <a:lnSpc>
                <a:spcPct val="115000"/>
              </a:lnSpc>
              <a:spcBef>
                <a:spcPts val="0"/>
              </a:spcBef>
              <a:spcAft>
                <a:spcPts val="0"/>
              </a:spcAft>
              <a:buClr>
                <a:schemeClr val="dk1"/>
              </a:buClr>
              <a:buSzPts val="1100"/>
              <a:buAutoNum type="arabicPeriod"/>
            </a:pPr>
            <a:r>
              <a:rPr lang="en"/>
              <a:t>Send message</a:t>
            </a:r>
            <a:endParaRPr/>
          </a:p>
          <a:p>
            <a:pPr indent="-298450" lvl="0" marL="457200" rtl="0" algn="l">
              <a:lnSpc>
                <a:spcPct val="115000"/>
              </a:lnSpc>
              <a:spcBef>
                <a:spcPts val="0"/>
              </a:spcBef>
              <a:spcAft>
                <a:spcPts val="0"/>
              </a:spcAft>
              <a:buClr>
                <a:schemeClr val="dk1"/>
              </a:buClr>
              <a:buSzPts val="1100"/>
              <a:buAutoNum type="arabicPeriod"/>
            </a:pPr>
            <a:r>
              <a:rPr lang="en"/>
              <a:t>Make offer</a:t>
            </a:r>
            <a:endParaRPr/>
          </a:p>
          <a:p>
            <a:pPr indent="-298450" lvl="0" marL="457200" rtl="0" algn="l">
              <a:lnSpc>
                <a:spcPct val="115000"/>
              </a:lnSpc>
              <a:spcBef>
                <a:spcPts val="0"/>
              </a:spcBef>
              <a:spcAft>
                <a:spcPts val="0"/>
              </a:spcAft>
              <a:buClr>
                <a:schemeClr val="dk1"/>
              </a:buClr>
              <a:buSzPts val="1100"/>
              <a:buAutoNum type="arabicPeriod"/>
            </a:pPr>
            <a:r>
              <a:rPr lang="en"/>
              <a:t>Accept offer</a:t>
            </a:r>
            <a:endParaRPr/>
          </a:p>
          <a:p>
            <a:pPr indent="-298450" lvl="0" marL="457200" rtl="0" algn="l">
              <a:lnSpc>
                <a:spcPct val="115000"/>
              </a:lnSpc>
              <a:spcBef>
                <a:spcPts val="0"/>
              </a:spcBef>
              <a:spcAft>
                <a:spcPts val="0"/>
              </a:spcAft>
              <a:buClr>
                <a:schemeClr val="dk1"/>
              </a:buClr>
              <a:buSzPts val="1100"/>
              <a:buAutoNum type="arabicPeriod"/>
            </a:pPr>
            <a:r>
              <a:rPr lang="en"/>
              <a:t>Leave review</a:t>
            </a:r>
            <a:endParaRPr/>
          </a:p>
          <a:p>
            <a:pPr indent="0" lvl="0" marL="0" rtl="0" algn="l">
              <a:lnSpc>
                <a:spcPct val="115000"/>
              </a:lnSpc>
              <a:spcBef>
                <a:spcPts val="1200"/>
              </a:spcBef>
              <a:spcAft>
                <a:spcPts val="0"/>
              </a:spcAft>
              <a:buClr>
                <a:schemeClr val="dk1"/>
              </a:buClr>
              <a:buSzPts val="1100"/>
              <a:buFont typeface="Arial"/>
              <a:buNone/>
            </a:pPr>
            <a:r>
              <a:rPr lang="en"/>
              <a:t>Explain:</a:t>
            </a:r>
            <a:endParaRPr/>
          </a:p>
          <a:p>
            <a:pPr indent="-298450" lvl="0" marL="457200" rtl="0" algn="l">
              <a:lnSpc>
                <a:spcPct val="115000"/>
              </a:lnSpc>
              <a:spcBef>
                <a:spcPts val="1200"/>
              </a:spcBef>
              <a:spcAft>
                <a:spcPts val="0"/>
              </a:spcAft>
              <a:buClr>
                <a:schemeClr val="dk1"/>
              </a:buClr>
              <a:buSzPts val="1100"/>
              <a:buChar char="●"/>
            </a:pPr>
            <a:r>
              <a:rPr lang="en"/>
              <a:t>Chat is real-time</a:t>
            </a:r>
            <a:endParaRPr/>
          </a:p>
          <a:p>
            <a:pPr indent="-298450" lvl="0" marL="457200" rtl="0" algn="l">
              <a:lnSpc>
                <a:spcPct val="115000"/>
              </a:lnSpc>
              <a:spcBef>
                <a:spcPts val="0"/>
              </a:spcBef>
              <a:spcAft>
                <a:spcPts val="0"/>
              </a:spcAft>
              <a:buClr>
                <a:schemeClr val="dk1"/>
              </a:buClr>
              <a:buSzPts val="1100"/>
              <a:buChar char="●"/>
            </a:pPr>
            <a:r>
              <a:rPr lang="en"/>
              <a:t>Offer system structured negotiation</a:t>
            </a:r>
            <a:endParaRPr/>
          </a:p>
          <a:p>
            <a:pPr indent="-298450" lvl="0" marL="457200" rtl="0" algn="l">
              <a:lnSpc>
                <a:spcPct val="115000"/>
              </a:lnSpc>
              <a:spcBef>
                <a:spcPts val="0"/>
              </a:spcBef>
              <a:spcAft>
                <a:spcPts val="0"/>
              </a:spcAft>
              <a:buClr>
                <a:schemeClr val="dk1"/>
              </a:buClr>
              <a:buSzPts val="1100"/>
              <a:buChar char="●"/>
            </a:pPr>
            <a:r>
              <a:rPr lang="en"/>
              <a:t>Listing status updates</a:t>
            </a:r>
            <a:endParaRPr/>
          </a:p>
          <a:p>
            <a:pPr indent="-298450" lvl="0" marL="457200" rtl="0" algn="l">
              <a:lnSpc>
                <a:spcPct val="115000"/>
              </a:lnSpc>
              <a:spcBef>
                <a:spcPts val="0"/>
              </a:spcBef>
              <a:spcAft>
                <a:spcPts val="0"/>
              </a:spcAft>
              <a:buClr>
                <a:schemeClr val="dk1"/>
              </a:buClr>
              <a:buSzPts val="1100"/>
              <a:buChar char="●"/>
            </a:pPr>
            <a:r>
              <a:rPr lang="en"/>
              <a:t>Review enabled after acceptance</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6ac0a4f6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86ac0a4f6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Show:</a:t>
            </a:r>
            <a:endParaRPr/>
          </a:p>
          <a:p>
            <a:pPr indent="-298450" lvl="0" marL="457200" rtl="0" algn="l">
              <a:lnSpc>
                <a:spcPct val="115000"/>
              </a:lnSpc>
              <a:spcBef>
                <a:spcPts val="1200"/>
              </a:spcBef>
              <a:spcAft>
                <a:spcPts val="0"/>
              </a:spcAft>
              <a:buClr>
                <a:schemeClr val="dk1"/>
              </a:buClr>
              <a:buSzPts val="1100"/>
              <a:buChar char="●"/>
            </a:pPr>
            <a:r>
              <a:rPr lang="en"/>
              <a:t>Search bar</a:t>
            </a:r>
            <a:endParaRPr/>
          </a:p>
          <a:p>
            <a:pPr indent="-298450" lvl="0" marL="457200" rtl="0" algn="l">
              <a:lnSpc>
                <a:spcPct val="115000"/>
              </a:lnSpc>
              <a:spcBef>
                <a:spcPts val="0"/>
              </a:spcBef>
              <a:spcAft>
                <a:spcPts val="0"/>
              </a:spcAft>
              <a:buClr>
                <a:schemeClr val="dk1"/>
              </a:buClr>
              <a:buSzPts val="1100"/>
              <a:buChar char="●"/>
            </a:pPr>
            <a:r>
              <a:rPr lang="en"/>
              <a:t>Category filter</a:t>
            </a:r>
            <a:endParaRPr/>
          </a:p>
          <a:p>
            <a:pPr indent="-298450" lvl="0" marL="457200" rtl="0" algn="l">
              <a:lnSpc>
                <a:spcPct val="115000"/>
              </a:lnSpc>
              <a:spcBef>
                <a:spcPts val="0"/>
              </a:spcBef>
              <a:spcAft>
                <a:spcPts val="0"/>
              </a:spcAft>
              <a:buClr>
                <a:schemeClr val="dk1"/>
              </a:buClr>
              <a:buSzPts val="1100"/>
              <a:buChar char="●"/>
            </a:pPr>
            <a:r>
              <a:rPr lang="en"/>
              <a:t>Price filter</a:t>
            </a:r>
            <a:endParaRPr/>
          </a:p>
          <a:p>
            <a:pPr indent="-298450" lvl="0" marL="457200" rtl="0" algn="l">
              <a:lnSpc>
                <a:spcPct val="115000"/>
              </a:lnSpc>
              <a:spcBef>
                <a:spcPts val="0"/>
              </a:spcBef>
              <a:spcAft>
                <a:spcPts val="0"/>
              </a:spcAft>
              <a:buClr>
                <a:schemeClr val="dk1"/>
              </a:buClr>
              <a:buSzPts val="1100"/>
              <a:buChar char="●"/>
            </a:pPr>
            <a:r>
              <a:rPr lang="en"/>
              <a:t>Favourites</a:t>
            </a:r>
            <a:endParaRPr/>
          </a:p>
          <a:p>
            <a:pPr indent="-298450" lvl="0" marL="457200" rtl="0" algn="l">
              <a:lnSpc>
                <a:spcPct val="115000"/>
              </a:lnSpc>
              <a:spcBef>
                <a:spcPts val="0"/>
              </a:spcBef>
              <a:spcAft>
                <a:spcPts val="0"/>
              </a:spcAft>
              <a:buClr>
                <a:schemeClr val="dk1"/>
              </a:buClr>
              <a:buSzPts val="1100"/>
              <a:buChar char="●"/>
            </a:pPr>
            <a:r>
              <a:rPr lang="en"/>
              <a:t>Notification badge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f55cc973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f55cc973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Show:</a:t>
            </a:r>
            <a:endParaRPr/>
          </a:p>
          <a:p>
            <a:pPr indent="-298450" lvl="0" marL="457200" rtl="0" algn="l">
              <a:lnSpc>
                <a:spcPct val="115000"/>
              </a:lnSpc>
              <a:spcBef>
                <a:spcPts val="1200"/>
              </a:spcBef>
              <a:spcAft>
                <a:spcPts val="0"/>
              </a:spcAft>
              <a:buClr>
                <a:schemeClr val="dk1"/>
              </a:buClr>
              <a:buSzPts val="1100"/>
              <a:buChar char="●"/>
            </a:pPr>
            <a:r>
              <a:rPr lang="en"/>
              <a:t>Search bar</a:t>
            </a:r>
            <a:endParaRPr/>
          </a:p>
          <a:p>
            <a:pPr indent="-298450" lvl="0" marL="457200" rtl="0" algn="l">
              <a:lnSpc>
                <a:spcPct val="115000"/>
              </a:lnSpc>
              <a:spcBef>
                <a:spcPts val="0"/>
              </a:spcBef>
              <a:spcAft>
                <a:spcPts val="0"/>
              </a:spcAft>
              <a:buClr>
                <a:schemeClr val="dk1"/>
              </a:buClr>
              <a:buSzPts val="1100"/>
              <a:buChar char="●"/>
            </a:pPr>
            <a:r>
              <a:rPr lang="en"/>
              <a:t>Category filter</a:t>
            </a:r>
            <a:endParaRPr/>
          </a:p>
          <a:p>
            <a:pPr indent="-298450" lvl="0" marL="457200" rtl="0" algn="l">
              <a:lnSpc>
                <a:spcPct val="115000"/>
              </a:lnSpc>
              <a:spcBef>
                <a:spcPts val="0"/>
              </a:spcBef>
              <a:spcAft>
                <a:spcPts val="0"/>
              </a:spcAft>
              <a:buClr>
                <a:schemeClr val="dk1"/>
              </a:buClr>
              <a:buSzPts val="1100"/>
              <a:buChar char="●"/>
            </a:pPr>
            <a:r>
              <a:rPr lang="en"/>
              <a:t>Price filter</a:t>
            </a:r>
            <a:endParaRPr/>
          </a:p>
          <a:p>
            <a:pPr indent="-298450" lvl="0" marL="457200" rtl="0" algn="l">
              <a:lnSpc>
                <a:spcPct val="115000"/>
              </a:lnSpc>
              <a:spcBef>
                <a:spcPts val="0"/>
              </a:spcBef>
              <a:spcAft>
                <a:spcPts val="0"/>
              </a:spcAft>
              <a:buClr>
                <a:schemeClr val="dk1"/>
              </a:buClr>
              <a:buSzPts val="1100"/>
              <a:buChar char="●"/>
            </a:pPr>
            <a:r>
              <a:rPr lang="en"/>
              <a:t>Favourites</a:t>
            </a:r>
            <a:endParaRPr/>
          </a:p>
          <a:p>
            <a:pPr indent="-298450" lvl="0" marL="457200" rtl="0" algn="l">
              <a:lnSpc>
                <a:spcPct val="115000"/>
              </a:lnSpc>
              <a:spcBef>
                <a:spcPts val="0"/>
              </a:spcBef>
              <a:spcAft>
                <a:spcPts val="0"/>
              </a:spcAft>
              <a:buClr>
                <a:schemeClr val="dk1"/>
              </a:buClr>
              <a:buSzPts val="1100"/>
              <a:buChar char="●"/>
            </a:pPr>
            <a:r>
              <a:rPr lang="en"/>
              <a:t>Notification badge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6ac0a4f6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6ac0a4f6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6ac0a4f61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6ac0a4f61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Importance of user flow</a:t>
            </a:r>
            <a:endParaRPr/>
          </a:p>
          <a:p>
            <a:pPr indent="-298450" lvl="0" marL="457200" rtl="0" algn="l">
              <a:lnSpc>
                <a:spcPct val="115000"/>
              </a:lnSpc>
              <a:spcBef>
                <a:spcPts val="0"/>
              </a:spcBef>
              <a:spcAft>
                <a:spcPts val="0"/>
              </a:spcAft>
              <a:buClr>
                <a:schemeClr val="dk1"/>
              </a:buClr>
              <a:buSzPts val="1100"/>
              <a:buChar char="●"/>
            </a:pPr>
            <a:r>
              <a:rPr lang="en"/>
              <a:t>Importance of state-driven design</a:t>
            </a:r>
            <a:endParaRPr/>
          </a:p>
          <a:p>
            <a:pPr indent="-298450" lvl="0" marL="457200" rtl="0" algn="l">
              <a:lnSpc>
                <a:spcPct val="115000"/>
              </a:lnSpc>
              <a:spcBef>
                <a:spcPts val="0"/>
              </a:spcBef>
              <a:spcAft>
                <a:spcPts val="0"/>
              </a:spcAft>
              <a:buClr>
                <a:schemeClr val="dk1"/>
              </a:buClr>
              <a:buSzPts val="1100"/>
              <a:buChar char="●"/>
            </a:pPr>
            <a:r>
              <a:rPr lang="en"/>
              <a:t>Balancing scope vs stability</a:t>
            </a:r>
            <a:endParaRPr/>
          </a:p>
          <a:p>
            <a:pPr indent="-298450" lvl="0" marL="457200" rtl="0" algn="l">
              <a:lnSpc>
                <a:spcPct val="115000"/>
              </a:lnSpc>
              <a:spcBef>
                <a:spcPts val="0"/>
              </a:spcBef>
              <a:spcAft>
                <a:spcPts val="0"/>
              </a:spcAft>
              <a:buClr>
                <a:schemeClr val="dk1"/>
              </a:buClr>
              <a:buSzPts val="1100"/>
              <a:buChar char="●"/>
            </a:pPr>
            <a:r>
              <a:rPr lang="en"/>
              <a:t>Learning real multi-user sync</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3.jpg"/><Relationship Id="rId7"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625" y="1251825"/>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TinyCell </a:t>
            </a:r>
            <a:endParaRPr/>
          </a:p>
          <a:p>
            <a:pPr indent="0" lvl="0" marL="0" rtl="0" algn="l">
              <a:spcBef>
                <a:spcPts val="0"/>
              </a:spcBef>
              <a:spcAft>
                <a:spcPts val="0"/>
              </a:spcAft>
              <a:buNone/>
            </a:pPr>
            <a:r>
              <a:rPr lang="en"/>
              <a:t> A Carousell-Inspired Marketplace App</a:t>
            </a:r>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729625" y="3172900"/>
            <a:ext cx="7688100" cy="1522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Group id 		- 14</a:t>
            </a:r>
            <a:endParaRPr b="1"/>
          </a:p>
          <a:p>
            <a:pPr indent="0" lvl="0" marL="0" rtl="0" algn="l">
              <a:spcBef>
                <a:spcPts val="0"/>
              </a:spcBef>
              <a:spcAft>
                <a:spcPts val="0"/>
              </a:spcAft>
              <a:buNone/>
            </a:pPr>
            <a:r>
              <a:rPr lang="en"/>
              <a:t>Bryan Ang 	- 2301397</a:t>
            </a:r>
            <a:endParaRPr/>
          </a:p>
          <a:p>
            <a:pPr indent="0" lvl="0" marL="0" rtl="0" algn="l">
              <a:spcBef>
                <a:spcPts val="0"/>
              </a:spcBef>
              <a:spcAft>
                <a:spcPts val="0"/>
              </a:spcAft>
              <a:buNone/>
            </a:pPr>
            <a:r>
              <a:rPr lang="en"/>
              <a:t>Kang Ting 	- 2301255</a:t>
            </a:r>
            <a:endParaRPr/>
          </a:p>
          <a:p>
            <a:pPr indent="0" lvl="0" marL="0" rtl="0" algn="l">
              <a:spcBef>
                <a:spcPts val="0"/>
              </a:spcBef>
              <a:spcAft>
                <a:spcPts val="0"/>
              </a:spcAft>
              <a:buNone/>
            </a:pPr>
            <a:r>
              <a:rPr lang="en"/>
              <a:t>Sam Tsang     	- 2301552</a:t>
            </a:r>
            <a:endParaRPr/>
          </a:p>
          <a:p>
            <a:pPr indent="0" lvl="0" marL="0" rtl="0" algn="l">
              <a:spcBef>
                <a:spcPts val="0"/>
              </a:spcBef>
              <a:spcAft>
                <a:spcPts val="0"/>
              </a:spcAft>
              <a:buNone/>
            </a:pPr>
            <a:r>
              <a:rPr lang="en"/>
              <a:t>Sherman Goh  	- 2301472</a:t>
            </a:r>
            <a:endParaRPr/>
          </a:p>
          <a:p>
            <a:pPr indent="0" lvl="0" marL="0" rtl="0" algn="l">
              <a:spcBef>
                <a:spcPts val="0"/>
              </a:spcBef>
              <a:spcAft>
                <a:spcPts val="0"/>
              </a:spcAft>
              <a:buNone/>
            </a:pPr>
            <a:r>
              <a:rPr lang="en"/>
              <a:t>Steven Chew   	- 2303348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2400"/>
              </a:spcBef>
              <a:spcAft>
                <a:spcPts val="600"/>
              </a:spcAft>
              <a:buNone/>
            </a:pPr>
            <a:r>
              <a:rPr lang="en" sz="2300">
                <a:solidFill>
                  <a:srgbClr val="000000"/>
                </a:solidFill>
                <a:latin typeface="Arial"/>
                <a:ea typeface="Arial"/>
                <a:cs typeface="Arial"/>
                <a:sym typeface="Arial"/>
              </a:rPr>
              <a:t>What Our App Does</a:t>
            </a:r>
            <a:endParaRPr/>
          </a:p>
        </p:txBody>
      </p:sp>
      <p:sp>
        <p:nvSpPr>
          <p:cNvPr id="98" name="Google Shape;98;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rgbClr val="000000"/>
              </a:buClr>
              <a:buSzPts val="1300"/>
              <a:buFont typeface="Arial"/>
              <a:buChar char="●"/>
            </a:pPr>
            <a:r>
              <a:rPr lang="en">
                <a:solidFill>
                  <a:srgbClr val="000000"/>
                </a:solidFill>
                <a:latin typeface="Arial"/>
                <a:ea typeface="Arial"/>
                <a:cs typeface="Arial"/>
                <a:sym typeface="Arial"/>
              </a:rPr>
              <a:t>Create listings with images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Browse &amp; search</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Chat between users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Make offers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Accept/reject offers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Leave reviews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Favourite listings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Notifications</a:t>
            </a:r>
            <a:endParaRPr sz="1500"/>
          </a:p>
        </p:txBody>
      </p:sp>
      <p:pic>
        <p:nvPicPr>
          <p:cNvPr id="99" name="Google Shape;99;p15"/>
          <p:cNvPicPr preferRelativeResize="0"/>
          <p:nvPr/>
        </p:nvPicPr>
        <p:blipFill>
          <a:blip r:embed="rId3">
            <a:alphaModFix/>
          </a:blip>
          <a:stretch>
            <a:fillRect/>
          </a:stretch>
        </p:blipFill>
        <p:spPr>
          <a:xfrm>
            <a:off x="3967075" y="855675"/>
            <a:ext cx="5176925" cy="4287825"/>
          </a:xfrm>
          <a:prstGeom prst="rect">
            <a:avLst/>
          </a:prstGeom>
          <a:noFill/>
          <a:ln>
            <a:noFill/>
          </a:ln>
        </p:spPr>
      </p:pic>
      <p:sp>
        <p:nvSpPr>
          <p:cNvPr id="100" name="Google Shape;100;p15"/>
          <p:cNvSpPr txBox="1"/>
          <p:nvPr/>
        </p:nvSpPr>
        <p:spPr>
          <a:xfrm>
            <a:off x="177150" y="4565000"/>
            <a:ext cx="5120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900">
                <a:solidFill>
                  <a:schemeClr val="accent1"/>
                </a:solidFill>
                <a:latin typeface="Lato Black"/>
                <a:ea typeface="Lato Black"/>
                <a:cs typeface="Lato Black"/>
                <a:sym typeface="Lato Black"/>
              </a:rPr>
              <a:t>Browse → Chat → Offer → Accept → Review</a:t>
            </a:r>
            <a:endParaRPr i="1" sz="1600">
              <a:solidFill>
                <a:schemeClr val="accent1"/>
              </a:solidFill>
              <a:latin typeface="Lato Black"/>
              <a:ea typeface="Lato Black"/>
              <a:cs typeface="Lato Black"/>
              <a:sym typeface="La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Architecture</a:t>
            </a:r>
            <a:endParaRPr/>
          </a:p>
          <a:p>
            <a:pPr indent="0" lvl="0" marL="0" rtl="0" algn="l">
              <a:spcBef>
                <a:spcPts val="0"/>
              </a:spcBef>
              <a:spcAft>
                <a:spcPts val="0"/>
              </a:spcAft>
              <a:buNone/>
            </a:pPr>
            <a:r>
              <a:rPr lang="en"/>
              <a:t>(Back-end)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MVVM Architecture</a:t>
            </a:r>
            <a:endParaRPr/>
          </a:p>
        </p:txBody>
      </p:sp>
      <p:pic>
        <p:nvPicPr>
          <p:cNvPr id="111" name="Google Shape;111;p17"/>
          <p:cNvPicPr preferRelativeResize="0"/>
          <p:nvPr/>
        </p:nvPicPr>
        <p:blipFill>
          <a:blip r:embed="rId3">
            <a:alphaModFix/>
          </a:blip>
          <a:stretch>
            <a:fillRect/>
          </a:stretch>
        </p:blipFill>
        <p:spPr>
          <a:xfrm>
            <a:off x="4572000" y="1059925"/>
            <a:ext cx="3610950" cy="3580150"/>
          </a:xfrm>
          <a:prstGeom prst="rect">
            <a:avLst/>
          </a:prstGeom>
          <a:noFill/>
          <a:ln>
            <a:noFill/>
          </a:ln>
        </p:spPr>
      </p:pic>
      <p:sp>
        <p:nvSpPr>
          <p:cNvPr id="112" name="Google Shape;112;p17"/>
          <p:cNvSpPr txBox="1"/>
          <p:nvPr>
            <p:ph idx="1" type="body"/>
          </p:nvPr>
        </p:nvSpPr>
        <p:spPr>
          <a:xfrm>
            <a:off x="0" y="1853850"/>
            <a:ext cx="3903600" cy="19923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rgbClr val="000000"/>
              </a:buClr>
              <a:buSzPts val="1100"/>
              <a:buFont typeface="Arial"/>
              <a:buChar char="●"/>
            </a:pPr>
            <a:r>
              <a:rPr lang="en"/>
              <a:t>Model </a:t>
            </a:r>
            <a:endParaRPr/>
          </a:p>
          <a:p>
            <a:pPr indent="-298450" lvl="1" marL="914400" rtl="0" algn="l">
              <a:spcBef>
                <a:spcPts val="0"/>
              </a:spcBef>
              <a:spcAft>
                <a:spcPts val="0"/>
              </a:spcAft>
              <a:buClr>
                <a:srgbClr val="000000"/>
              </a:buClr>
              <a:buSzPts val="1100"/>
              <a:buFont typeface="Arial"/>
              <a:buAutoNum type="alphaLcPeriod"/>
            </a:pPr>
            <a:r>
              <a:rPr lang="en"/>
              <a:t>Data layer - Repos, database, Firebase</a:t>
            </a:r>
            <a:endParaRPr/>
          </a:p>
          <a:p>
            <a:pPr indent="-298450" lvl="0" marL="457200" rtl="0" algn="l">
              <a:spcBef>
                <a:spcPts val="0"/>
              </a:spcBef>
              <a:spcAft>
                <a:spcPts val="0"/>
              </a:spcAft>
              <a:buClr>
                <a:srgbClr val="000000"/>
              </a:buClr>
              <a:buSzPts val="1100"/>
              <a:buFont typeface="Arial"/>
              <a:buChar char="●"/>
            </a:pPr>
            <a:r>
              <a:rPr lang="en"/>
              <a:t>View </a:t>
            </a:r>
            <a:endParaRPr/>
          </a:p>
          <a:p>
            <a:pPr indent="-298450" lvl="1" marL="914400" rtl="0" algn="l">
              <a:spcBef>
                <a:spcPts val="0"/>
              </a:spcBef>
              <a:spcAft>
                <a:spcPts val="0"/>
              </a:spcAft>
              <a:buClr>
                <a:srgbClr val="000000"/>
              </a:buClr>
              <a:buSzPts val="1100"/>
              <a:buFont typeface="Arial"/>
              <a:buAutoNum type="alphaLcPeriod"/>
            </a:pPr>
            <a:r>
              <a:rPr lang="en"/>
              <a:t>UI layer</a:t>
            </a:r>
            <a:endParaRPr/>
          </a:p>
          <a:p>
            <a:pPr indent="-298450" lvl="0" marL="457200" rtl="0" algn="l">
              <a:spcBef>
                <a:spcPts val="0"/>
              </a:spcBef>
              <a:spcAft>
                <a:spcPts val="0"/>
              </a:spcAft>
              <a:buClr>
                <a:srgbClr val="000000"/>
              </a:buClr>
              <a:buSzPts val="1100"/>
              <a:buFont typeface="Arial"/>
              <a:buChar char="●"/>
            </a:pPr>
            <a:r>
              <a:rPr lang="en"/>
              <a:t>ViewModel </a:t>
            </a:r>
            <a:endParaRPr/>
          </a:p>
          <a:p>
            <a:pPr indent="-298450" lvl="1" marL="914400" rtl="0" algn="l">
              <a:spcBef>
                <a:spcPts val="0"/>
              </a:spcBef>
              <a:spcAft>
                <a:spcPts val="0"/>
              </a:spcAft>
              <a:buClr>
                <a:srgbClr val="000000"/>
              </a:buClr>
              <a:buSzPts val="1100"/>
              <a:buFont typeface="Arial"/>
              <a:buAutoNum type="alphaLcPeriod"/>
            </a:pPr>
            <a:r>
              <a:rPr lang="en"/>
              <a:t>Bridge that manages UI state &amp; business logic</a:t>
            </a:r>
            <a:endParaRPr/>
          </a:p>
          <a:p>
            <a:pPr indent="-298450" lvl="0" marL="457200" rtl="0" algn="l">
              <a:spcBef>
                <a:spcPts val="0"/>
              </a:spcBef>
              <a:spcAft>
                <a:spcPts val="0"/>
              </a:spcAft>
              <a:buClr>
                <a:srgbClr val="000000"/>
              </a:buClr>
              <a:buSzPts val="1100"/>
              <a:buFont typeface="Arial"/>
              <a:buChar char="●"/>
            </a:pPr>
            <a:r>
              <a:rPr lang="en"/>
              <a:t>Separation</a:t>
            </a:r>
            <a:r>
              <a:rPr lang="en"/>
              <a:t> of concerns</a:t>
            </a:r>
            <a:endParaRPr/>
          </a:p>
          <a:p>
            <a:pPr indent="-298450" lvl="1" marL="914400" rtl="0" algn="l">
              <a:spcBef>
                <a:spcPts val="0"/>
              </a:spcBef>
              <a:spcAft>
                <a:spcPts val="0"/>
              </a:spcAft>
              <a:buClr>
                <a:srgbClr val="000000"/>
              </a:buClr>
              <a:buSzPts val="1100"/>
              <a:buFont typeface="Arial"/>
              <a:buAutoNum type="alphaLcPeriod"/>
            </a:pPr>
            <a:r>
              <a:rPr lang="en"/>
              <a:t>Layers are well defined in roles</a:t>
            </a:r>
            <a:br>
              <a:rPr lang="en"/>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3187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MVVM Architecture</a:t>
            </a:r>
            <a:endParaRPr/>
          </a:p>
          <a:p>
            <a:pPr indent="0" lvl="0" marL="0" rtl="0" algn="l">
              <a:spcBef>
                <a:spcPts val="0"/>
              </a:spcBef>
              <a:spcAft>
                <a:spcPts val="0"/>
              </a:spcAft>
              <a:buNone/>
            </a:pPr>
            <a:r>
              <a:t/>
            </a:r>
            <a:endParaRPr/>
          </a:p>
        </p:txBody>
      </p:sp>
      <p:pic>
        <p:nvPicPr>
          <p:cNvPr id="118" name="Google Shape;118;p18" title="Beige Minimal Flowchart Infographic Graph (2).png"/>
          <p:cNvPicPr preferRelativeResize="0"/>
          <p:nvPr/>
        </p:nvPicPr>
        <p:blipFill>
          <a:blip r:embed="rId3">
            <a:alphaModFix/>
          </a:blip>
          <a:stretch>
            <a:fillRect/>
          </a:stretch>
        </p:blipFill>
        <p:spPr>
          <a:xfrm>
            <a:off x="3917325" y="1318650"/>
            <a:ext cx="4863324" cy="3647501"/>
          </a:xfrm>
          <a:prstGeom prst="rect">
            <a:avLst/>
          </a:prstGeom>
          <a:noFill/>
          <a:ln>
            <a:noFill/>
          </a:ln>
        </p:spPr>
      </p:pic>
      <p:sp>
        <p:nvSpPr>
          <p:cNvPr id="119" name="Google Shape;119;p18"/>
          <p:cNvSpPr txBox="1"/>
          <p:nvPr>
            <p:ph idx="1" type="body"/>
          </p:nvPr>
        </p:nvSpPr>
        <p:spPr>
          <a:xfrm>
            <a:off x="0" y="1853850"/>
            <a:ext cx="3903600" cy="19923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a:t>Upward Flow</a:t>
            </a:r>
            <a:endParaRPr sz="1191"/>
          </a:p>
          <a:p>
            <a:pPr indent="-298450" lvl="1" marL="914400" rtl="0" algn="l">
              <a:spcBef>
                <a:spcPts val="0"/>
              </a:spcBef>
              <a:spcAft>
                <a:spcPts val="0"/>
              </a:spcAft>
              <a:buClr>
                <a:srgbClr val="000000"/>
              </a:buClr>
              <a:buSzPts val="1100"/>
              <a:buFont typeface="Arial"/>
              <a:buAutoNum type="alphaLcPeriod"/>
            </a:pPr>
            <a:r>
              <a:rPr lang="en"/>
              <a:t>Event callbacks triggered by user</a:t>
            </a:r>
            <a:endParaRPr/>
          </a:p>
          <a:p>
            <a:pPr indent="-298450" lvl="1" marL="914400" rtl="0" algn="l">
              <a:spcBef>
                <a:spcPts val="0"/>
              </a:spcBef>
              <a:spcAft>
                <a:spcPts val="0"/>
              </a:spcAft>
              <a:buClr>
                <a:srgbClr val="000000"/>
              </a:buClr>
              <a:buSzPts val="1100"/>
              <a:buFont typeface="Arial"/>
              <a:buAutoNum type="alphaLcPeriod"/>
            </a:pPr>
            <a:r>
              <a:rPr lang="en"/>
              <a:t>Events passed to ViewModel as function calls</a:t>
            </a:r>
            <a:endParaRPr/>
          </a:p>
          <a:p>
            <a:pPr indent="-298450" lvl="1" marL="914400" rtl="0" algn="l">
              <a:spcBef>
                <a:spcPts val="0"/>
              </a:spcBef>
              <a:spcAft>
                <a:spcPts val="0"/>
              </a:spcAft>
              <a:buClr>
                <a:srgbClr val="000000"/>
              </a:buClr>
              <a:buSzPts val="1100"/>
              <a:buFont typeface="Arial"/>
              <a:buAutoNum type="alphaLcPeriod"/>
            </a:pPr>
            <a:r>
              <a:rPr lang="en"/>
              <a:t>ViewModel handles event and updates</a:t>
            </a:r>
            <a:endParaRPr/>
          </a:p>
          <a:p>
            <a:pPr indent="-298450" lvl="0" marL="457200" rtl="0" algn="l">
              <a:spcBef>
                <a:spcPts val="0"/>
              </a:spcBef>
              <a:spcAft>
                <a:spcPts val="0"/>
              </a:spcAft>
              <a:buClr>
                <a:srgbClr val="000000"/>
              </a:buClr>
              <a:buSzPts val="1100"/>
              <a:buFont typeface="Arial"/>
              <a:buChar char="●"/>
            </a:pPr>
            <a:r>
              <a:rPr lang="en"/>
              <a:t>Downward Flow</a:t>
            </a:r>
            <a:endParaRPr/>
          </a:p>
          <a:p>
            <a:pPr indent="-298450" lvl="1" marL="914400" rtl="0" algn="l">
              <a:spcBef>
                <a:spcPts val="0"/>
              </a:spcBef>
              <a:spcAft>
                <a:spcPts val="0"/>
              </a:spcAft>
              <a:buClr>
                <a:srgbClr val="000000"/>
              </a:buClr>
              <a:buSzPts val="1100"/>
              <a:buFont typeface="Arial"/>
              <a:buAutoNum type="alphaLcPeriod"/>
            </a:pPr>
            <a:r>
              <a:rPr lang="en"/>
              <a:t>ViewModel handles state</a:t>
            </a:r>
            <a:endParaRPr/>
          </a:p>
          <a:p>
            <a:pPr indent="-298450" lvl="1" marL="914400" rtl="0" algn="l">
              <a:spcBef>
                <a:spcPts val="0"/>
              </a:spcBef>
              <a:spcAft>
                <a:spcPts val="0"/>
              </a:spcAft>
              <a:buClr>
                <a:srgbClr val="000000"/>
              </a:buClr>
              <a:buSzPts val="1100"/>
              <a:buFont typeface="Arial"/>
              <a:buAutoNum type="alphaLcPeriod"/>
            </a:pPr>
            <a:r>
              <a:rPr lang="en"/>
              <a:t>UI observes the state</a:t>
            </a:r>
            <a:endParaRPr/>
          </a:p>
          <a:p>
            <a:pPr indent="-298450" lvl="1" marL="914400" rtl="0" algn="l">
              <a:spcBef>
                <a:spcPts val="0"/>
              </a:spcBef>
              <a:spcAft>
                <a:spcPts val="0"/>
              </a:spcAft>
              <a:buClr>
                <a:srgbClr val="000000"/>
              </a:buClr>
              <a:buSzPts val="1100"/>
              <a:buFont typeface="Arial"/>
              <a:buAutoNum type="alphaLcPeriod"/>
            </a:pPr>
            <a:r>
              <a:rPr lang="en"/>
              <a:t>UI recomposes when state changes</a:t>
            </a:r>
            <a:br>
              <a:rPr lang="en"/>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Sync &amp; Advanced Techniques</a:t>
            </a:r>
            <a:endParaRPr/>
          </a:p>
        </p:txBody>
      </p:sp>
      <p:pic>
        <p:nvPicPr>
          <p:cNvPr id="125" name="Google Shape;125;p19" title="copilot-tiny-cell-techniques-diagram.png"/>
          <p:cNvPicPr preferRelativeResize="0"/>
          <p:nvPr/>
        </p:nvPicPr>
        <p:blipFill>
          <a:blip r:embed="rId3">
            <a:alphaModFix/>
          </a:blip>
          <a:stretch>
            <a:fillRect/>
          </a:stretch>
        </p:blipFill>
        <p:spPr>
          <a:xfrm>
            <a:off x="3719951" y="1720638"/>
            <a:ext cx="4790349" cy="2578125"/>
          </a:xfrm>
          <a:prstGeom prst="rect">
            <a:avLst/>
          </a:prstGeom>
          <a:noFill/>
          <a:ln>
            <a:noFill/>
          </a:ln>
        </p:spPr>
      </p:pic>
      <p:sp>
        <p:nvSpPr>
          <p:cNvPr id="126" name="Google Shape;126;p19"/>
          <p:cNvSpPr txBox="1"/>
          <p:nvPr>
            <p:ph idx="1" type="body"/>
          </p:nvPr>
        </p:nvSpPr>
        <p:spPr>
          <a:xfrm>
            <a:off x="729450" y="1971725"/>
            <a:ext cx="3902400" cy="26598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en"/>
              <a:t>Dual-Write Offline-First:</a:t>
            </a:r>
            <a:endParaRPr/>
          </a:p>
          <a:p>
            <a:pPr indent="-298767" lvl="0" marL="457200" rtl="0" algn="l">
              <a:spcBef>
                <a:spcPts val="1200"/>
              </a:spcBef>
              <a:spcAft>
                <a:spcPts val="0"/>
              </a:spcAft>
              <a:buSzPct val="100000"/>
              <a:buChar char="●"/>
            </a:pPr>
            <a:r>
              <a:rPr lang="en"/>
              <a:t>Writes to both </a:t>
            </a:r>
            <a:r>
              <a:rPr lang="en"/>
              <a:t>local and remote</a:t>
            </a:r>
            <a:endParaRPr/>
          </a:p>
          <a:p>
            <a:pPr indent="-298767" lvl="0" marL="457200" rtl="0" algn="l">
              <a:spcBef>
                <a:spcPts val="0"/>
              </a:spcBef>
              <a:spcAft>
                <a:spcPts val="0"/>
              </a:spcAft>
              <a:buSzPct val="100000"/>
              <a:buChar char="●"/>
            </a:pPr>
            <a:r>
              <a:rPr lang="en"/>
              <a:t>Local database as single source of truth</a:t>
            </a:r>
            <a:endParaRPr/>
          </a:p>
          <a:p>
            <a:pPr indent="-298767" lvl="0" marL="457200" rtl="0" algn="l">
              <a:spcBef>
                <a:spcPts val="0"/>
              </a:spcBef>
              <a:spcAft>
                <a:spcPts val="0"/>
              </a:spcAft>
              <a:buSzPct val="100000"/>
              <a:buChar char="●"/>
            </a:pPr>
            <a:r>
              <a:rPr lang="en"/>
              <a:t>Real-time sync to remote</a:t>
            </a:r>
            <a:endParaRPr/>
          </a:p>
          <a:p>
            <a:pPr indent="0" lvl="0" marL="0" rtl="0" algn="l">
              <a:spcBef>
                <a:spcPts val="1200"/>
              </a:spcBef>
              <a:spcAft>
                <a:spcPts val="0"/>
              </a:spcAft>
              <a:buNone/>
            </a:pPr>
            <a:r>
              <a:rPr lang="en"/>
              <a:t>Reactive Programming:</a:t>
            </a:r>
            <a:endParaRPr/>
          </a:p>
          <a:p>
            <a:pPr indent="-298767" lvl="0" marL="457200" rtl="0" algn="l">
              <a:spcBef>
                <a:spcPts val="1200"/>
              </a:spcBef>
              <a:spcAft>
                <a:spcPts val="0"/>
              </a:spcAft>
              <a:buSzPct val="100000"/>
              <a:buChar char="●"/>
            </a:pPr>
            <a:r>
              <a:rPr lang="en"/>
              <a:t>StateFlow &amp; Coroutines to propagate</a:t>
            </a:r>
            <a:endParaRPr/>
          </a:p>
          <a:p>
            <a:pPr indent="-298767" lvl="0" marL="457200" rtl="0" algn="l">
              <a:spcBef>
                <a:spcPts val="0"/>
              </a:spcBef>
              <a:spcAft>
                <a:spcPts val="0"/>
              </a:spcAft>
              <a:buSzPct val="100000"/>
              <a:buChar char="●"/>
            </a:pPr>
            <a:r>
              <a:rPr lang="en"/>
              <a:t>Coroutines are launched in the background to improve ui responsiveness</a:t>
            </a:r>
            <a:endParaRPr/>
          </a:p>
          <a:p>
            <a:pPr indent="0" lvl="0" marL="0" rtl="0" algn="l">
              <a:spcBef>
                <a:spcPts val="1200"/>
              </a:spcBef>
              <a:spcAft>
                <a:spcPts val="0"/>
              </a:spcAft>
              <a:buNone/>
            </a:pPr>
            <a:r>
              <a:rPr lang="en"/>
              <a:t>Firebase Cloud Storage Management:</a:t>
            </a:r>
            <a:endParaRPr/>
          </a:p>
          <a:p>
            <a:pPr indent="-298767" lvl="0" marL="457200" rtl="0" algn="l">
              <a:spcBef>
                <a:spcPts val="1200"/>
              </a:spcBef>
              <a:spcAft>
                <a:spcPts val="0"/>
              </a:spcAft>
              <a:buSzPct val="100000"/>
              <a:buChar char="●"/>
            </a:pPr>
            <a:r>
              <a:rPr lang="en"/>
              <a:t>Image Compression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User Flow</a:t>
            </a:r>
            <a:endParaRPr/>
          </a:p>
          <a:p>
            <a:pPr indent="0" lvl="0" marL="0" rtl="0" algn="l">
              <a:spcBef>
                <a:spcPts val="0"/>
              </a:spcBef>
              <a:spcAft>
                <a:spcPts val="0"/>
              </a:spcAft>
              <a:buNone/>
            </a:pPr>
            <a:r>
              <a:rPr lang="en"/>
              <a:t>(UI/UX)</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Chat &amp; Offer Lifecycle </a:t>
            </a:r>
            <a:endParaRPr/>
          </a:p>
        </p:txBody>
      </p:sp>
      <p:sp>
        <p:nvSpPr>
          <p:cNvPr id="137" name="Google Shape;137;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Chat is real-time</a:t>
            </a:r>
            <a:endParaRPr sz="1800"/>
          </a:p>
          <a:p>
            <a:pPr indent="-342900" lvl="0" marL="457200" rtl="0" algn="l">
              <a:spcBef>
                <a:spcPts val="0"/>
              </a:spcBef>
              <a:spcAft>
                <a:spcPts val="0"/>
              </a:spcAft>
              <a:buSzPts val="1800"/>
              <a:buChar char="●"/>
            </a:pPr>
            <a:r>
              <a:rPr lang="en" sz="1800"/>
              <a:t>Offer system structured negotiation</a:t>
            </a:r>
            <a:endParaRPr sz="1800"/>
          </a:p>
          <a:p>
            <a:pPr indent="-342900" lvl="0" marL="457200" rtl="0" algn="l">
              <a:spcBef>
                <a:spcPts val="0"/>
              </a:spcBef>
              <a:spcAft>
                <a:spcPts val="0"/>
              </a:spcAft>
              <a:buSzPts val="1800"/>
              <a:buChar char="●"/>
            </a:pPr>
            <a:r>
              <a:rPr lang="en" sz="1800"/>
              <a:t>Listing status updates</a:t>
            </a:r>
            <a:endParaRPr sz="1800"/>
          </a:p>
          <a:p>
            <a:pPr indent="-342900" lvl="0" marL="457200" rtl="0" algn="l">
              <a:spcBef>
                <a:spcPts val="0"/>
              </a:spcBef>
              <a:spcAft>
                <a:spcPts val="0"/>
              </a:spcAft>
              <a:buSzPts val="1800"/>
              <a:buChar char="●"/>
            </a:pPr>
            <a:r>
              <a:rPr lang="en" sz="1800"/>
              <a:t>Review enabled after acceptance</a:t>
            </a:r>
            <a:endParaRPr sz="18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38" name="Google Shape;138;p21"/>
          <p:cNvPicPr preferRelativeResize="0"/>
          <p:nvPr/>
        </p:nvPicPr>
        <p:blipFill>
          <a:blip r:embed="rId3">
            <a:alphaModFix/>
          </a:blip>
          <a:stretch>
            <a:fillRect/>
          </a:stretch>
        </p:blipFill>
        <p:spPr>
          <a:xfrm>
            <a:off x="7335875" y="1359375"/>
            <a:ext cx="1465100" cy="3256071"/>
          </a:xfrm>
          <a:prstGeom prst="rect">
            <a:avLst/>
          </a:prstGeom>
          <a:noFill/>
          <a:ln>
            <a:noFill/>
          </a:ln>
        </p:spPr>
      </p:pic>
      <p:pic>
        <p:nvPicPr>
          <p:cNvPr id="139" name="Google Shape;139;p21" title="Screenshot 2026-02-22 224014.png"/>
          <p:cNvPicPr preferRelativeResize="0"/>
          <p:nvPr/>
        </p:nvPicPr>
        <p:blipFill>
          <a:blip r:embed="rId4">
            <a:alphaModFix/>
          </a:blip>
          <a:stretch>
            <a:fillRect/>
          </a:stretch>
        </p:blipFill>
        <p:spPr>
          <a:xfrm>
            <a:off x="5529823" y="1374075"/>
            <a:ext cx="1465100" cy="3241375"/>
          </a:xfrm>
          <a:prstGeom prst="rect">
            <a:avLst/>
          </a:prstGeom>
          <a:noFill/>
          <a:ln>
            <a:noFill/>
          </a:ln>
        </p:spPr>
      </p:pic>
      <p:sp>
        <p:nvSpPr>
          <p:cNvPr id="140" name="Google Shape;140;p21"/>
          <p:cNvSpPr txBox="1"/>
          <p:nvPr/>
        </p:nvSpPr>
        <p:spPr>
          <a:xfrm>
            <a:off x="5529775" y="789075"/>
            <a:ext cx="14652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Buyer’s perspective</a:t>
            </a:r>
            <a:endParaRPr sz="1300">
              <a:solidFill>
                <a:schemeClr val="accent1"/>
              </a:solidFill>
              <a:latin typeface="Lato"/>
              <a:ea typeface="Lato"/>
              <a:cs typeface="Lato"/>
              <a:sym typeface="Lato"/>
            </a:endParaRPr>
          </a:p>
        </p:txBody>
      </p:sp>
      <p:sp>
        <p:nvSpPr>
          <p:cNvPr id="141" name="Google Shape;141;p21"/>
          <p:cNvSpPr txBox="1"/>
          <p:nvPr/>
        </p:nvSpPr>
        <p:spPr>
          <a:xfrm>
            <a:off x="7335875" y="774375"/>
            <a:ext cx="14652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Seller’s perspective</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 &amp; Notifications</a:t>
            </a:r>
            <a:endParaRPr/>
          </a:p>
        </p:txBody>
      </p:sp>
      <p:sp>
        <p:nvSpPr>
          <p:cNvPr id="147" name="Google Shape;147;p22"/>
          <p:cNvSpPr txBox="1"/>
          <p:nvPr>
            <p:ph idx="1" type="body"/>
          </p:nvPr>
        </p:nvSpPr>
        <p:spPr>
          <a:xfrm>
            <a:off x="729450" y="2078875"/>
            <a:ext cx="7688700" cy="29427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None/>
            </a:pPr>
            <a:r>
              <a:rPr lang="en" sz="1600"/>
              <a:t>Notifications:</a:t>
            </a:r>
            <a:endParaRPr sz="1600"/>
          </a:p>
          <a:p>
            <a:pPr indent="-304958" lvl="0" marL="457200" rtl="0" algn="l">
              <a:spcBef>
                <a:spcPts val="1200"/>
              </a:spcBef>
              <a:spcAft>
                <a:spcPts val="0"/>
              </a:spcAft>
              <a:buSzPct val="118181"/>
              <a:buChar char="●"/>
            </a:pPr>
            <a:r>
              <a:rPr lang="en" sz="1100">
                <a:latin typeface="Arial"/>
                <a:ea typeface="Arial"/>
                <a:cs typeface="Arial"/>
                <a:sym typeface="Arial"/>
              </a:rPr>
              <a:t>Notifications are generated on key events (new offer, accepted offer, price change, status change) and stored in both Room and Firestore. The </a:t>
            </a:r>
            <a:r>
              <a:rPr lang="en" sz="1100">
                <a:latin typeface="Roboto Mono"/>
                <a:ea typeface="Roboto Mono"/>
                <a:cs typeface="Roboto Mono"/>
                <a:sym typeface="Roboto Mono"/>
              </a:rPr>
              <a:t>HomeScreen</a:t>
            </a:r>
            <a:r>
              <a:rPr lang="en" sz="1100">
                <a:latin typeface="Arial"/>
                <a:ea typeface="Arial"/>
                <a:cs typeface="Arial"/>
                <a:sym typeface="Arial"/>
              </a:rPr>
              <a:t> displays a notification bell that when clicked will show all the unread message</a:t>
            </a:r>
            <a:endParaRPr/>
          </a:p>
          <a:p>
            <a:pPr indent="0" lvl="0" marL="0" rtl="0" algn="l">
              <a:spcBef>
                <a:spcPts val="1200"/>
              </a:spcBef>
              <a:spcAft>
                <a:spcPts val="0"/>
              </a:spcAft>
              <a:buNone/>
            </a:pPr>
            <a:r>
              <a:rPr lang="en" sz="1400"/>
              <a:t>Search &amp; Filter: </a:t>
            </a:r>
            <a:endParaRPr sz="1400"/>
          </a:p>
          <a:p>
            <a:pPr indent="0" lvl="0" marL="0" rtl="0" algn="l">
              <a:spcBef>
                <a:spcPts val="1200"/>
              </a:spcBef>
              <a:spcAft>
                <a:spcPts val="0"/>
              </a:spcAft>
              <a:buNone/>
            </a:pPr>
            <a:r>
              <a:rPr lang="en" sz="1100">
                <a:latin typeface="Arial"/>
                <a:ea typeface="Arial"/>
                <a:cs typeface="Arial"/>
                <a:sym typeface="Arial"/>
              </a:rPr>
              <a:t>The Home screen supports multi-dimensional filtering, all executed as a single Room query:</a:t>
            </a:r>
            <a:endParaRPr sz="1100">
              <a:latin typeface="Arial"/>
              <a:ea typeface="Arial"/>
              <a:cs typeface="Arial"/>
              <a:sym typeface="Arial"/>
            </a:endParaRPr>
          </a:p>
          <a:p>
            <a:pPr indent="-293211" lvl="0" marL="457200" rtl="0" algn="l">
              <a:spcBef>
                <a:spcPts val="1200"/>
              </a:spcBef>
              <a:spcAft>
                <a:spcPts val="0"/>
              </a:spcAft>
              <a:buSzPct val="100000"/>
              <a:buFont typeface="Arial"/>
              <a:buChar char="●"/>
            </a:pPr>
            <a:r>
              <a:rPr b="1" lang="en" sz="1100">
                <a:latin typeface="Arial"/>
                <a:ea typeface="Arial"/>
                <a:cs typeface="Arial"/>
                <a:sym typeface="Arial"/>
              </a:rPr>
              <a:t>Full-text search</a:t>
            </a:r>
            <a:r>
              <a:rPr lang="en" sz="1100">
                <a:latin typeface="Arial"/>
                <a:ea typeface="Arial"/>
                <a:cs typeface="Arial"/>
                <a:sym typeface="Arial"/>
              </a:rPr>
              <a:t> on title and description</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b="1" lang="en" sz="1100">
                <a:latin typeface="Arial"/>
                <a:ea typeface="Arial"/>
                <a:cs typeface="Arial"/>
                <a:sym typeface="Arial"/>
              </a:rPr>
              <a:t>Category multi-select</a:t>
            </a:r>
            <a:r>
              <a:rPr lang="en" sz="1100">
                <a:latin typeface="Arial"/>
                <a:ea typeface="Arial"/>
                <a:cs typeface="Arial"/>
                <a:sym typeface="Arial"/>
              </a:rPr>
              <a:t> (Electronics, Fashion, Home, Toys, Books, General)</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b="1" lang="en" sz="1100">
                <a:latin typeface="Arial"/>
                <a:ea typeface="Arial"/>
                <a:cs typeface="Arial"/>
                <a:sym typeface="Arial"/>
              </a:rPr>
              <a:t>Price range</a:t>
            </a:r>
            <a:r>
              <a:rPr lang="en" sz="1100">
                <a:latin typeface="Arial"/>
                <a:ea typeface="Arial"/>
                <a:cs typeface="Arial"/>
                <a:sym typeface="Arial"/>
              </a:rPr>
              <a:t> (min / max slider)</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b="1" lang="en" sz="1100">
                <a:latin typeface="Arial"/>
                <a:ea typeface="Arial"/>
                <a:cs typeface="Arial"/>
                <a:sym typeface="Arial"/>
              </a:rPr>
              <a:t>Date range</a:t>
            </a:r>
            <a:r>
              <a:rPr lang="en" sz="1100">
                <a:latin typeface="Arial"/>
                <a:ea typeface="Arial"/>
                <a:cs typeface="Arial"/>
                <a:sym typeface="Arial"/>
              </a:rPr>
              <a:t> filter</a:t>
            </a:r>
            <a:endParaRPr sz="1100">
              <a:latin typeface="Arial"/>
              <a:ea typeface="Arial"/>
              <a:cs typeface="Arial"/>
              <a:sym typeface="Arial"/>
            </a:endParaRPr>
          </a:p>
          <a:p>
            <a:pPr indent="-293211" lvl="0" marL="457200" rtl="0" algn="l">
              <a:spcBef>
                <a:spcPts val="0"/>
              </a:spcBef>
              <a:spcAft>
                <a:spcPts val="0"/>
              </a:spcAft>
              <a:buSzPct val="100000"/>
              <a:buFont typeface="Arial"/>
              <a:buChar char="●"/>
            </a:pPr>
            <a:r>
              <a:rPr b="1" lang="en" sz="1100">
                <a:latin typeface="Arial"/>
                <a:ea typeface="Arial"/>
                <a:cs typeface="Arial"/>
                <a:sym typeface="Arial"/>
              </a:rPr>
              <a:t>Active listings only</a:t>
            </a:r>
            <a:r>
              <a:rPr lang="en" sz="1100">
                <a:latin typeface="Arial"/>
                <a:ea typeface="Arial"/>
                <a:cs typeface="Arial"/>
                <a:sym typeface="Arial"/>
              </a:rPr>
              <a:t> (excludes sold items)</a:t>
            </a:r>
            <a:endParaRPr/>
          </a:p>
          <a:p>
            <a:pPr indent="0" lvl="0" marL="457200" rtl="0" algn="l">
              <a:spcBef>
                <a:spcPts val="1200"/>
              </a:spcBef>
              <a:spcAft>
                <a:spcPts val="1200"/>
              </a:spcAft>
              <a:buNone/>
            </a:pPr>
            <a:r>
              <a:t/>
            </a:r>
            <a:endParaRPr/>
          </a:p>
        </p:txBody>
      </p:sp>
      <p:pic>
        <p:nvPicPr>
          <p:cNvPr id="148" name="Google Shape;148;p22" title="6113759970630241710.jpg"/>
          <p:cNvPicPr preferRelativeResize="0"/>
          <p:nvPr/>
        </p:nvPicPr>
        <p:blipFill rotWithShape="1">
          <a:blip r:embed="rId3">
            <a:alphaModFix/>
          </a:blip>
          <a:srcRect b="54039" l="0" r="0" t="0"/>
          <a:stretch/>
        </p:blipFill>
        <p:spPr>
          <a:xfrm>
            <a:off x="5016725" y="1262368"/>
            <a:ext cx="1232801" cy="1214800"/>
          </a:xfrm>
          <a:prstGeom prst="rect">
            <a:avLst/>
          </a:prstGeom>
          <a:noFill/>
          <a:ln>
            <a:noFill/>
          </a:ln>
        </p:spPr>
      </p:pic>
      <p:pic>
        <p:nvPicPr>
          <p:cNvPr id="149" name="Google Shape;149;p22" title="Untitled 7.jpg"/>
          <p:cNvPicPr preferRelativeResize="0"/>
          <p:nvPr/>
        </p:nvPicPr>
        <p:blipFill>
          <a:blip r:embed="rId4">
            <a:alphaModFix/>
          </a:blip>
          <a:stretch>
            <a:fillRect/>
          </a:stretch>
        </p:blipFill>
        <p:spPr>
          <a:xfrm>
            <a:off x="6155925" y="2965275"/>
            <a:ext cx="959078" cy="2056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 (Sam)</a:t>
            </a:r>
            <a:endParaRPr/>
          </a:p>
        </p:txBody>
      </p:sp>
      <p:pic>
        <p:nvPicPr>
          <p:cNvPr id="155" name="Google Shape;155;p23" title="Untitled 3.jpg"/>
          <p:cNvPicPr preferRelativeResize="0"/>
          <p:nvPr/>
        </p:nvPicPr>
        <p:blipFill>
          <a:blip r:embed="rId3">
            <a:alphaModFix/>
          </a:blip>
          <a:stretch>
            <a:fillRect/>
          </a:stretch>
        </p:blipFill>
        <p:spPr>
          <a:xfrm>
            <a:off x="3922837" y="2009436"/>
            <a:ext cx="1301926" cy="2791414"/>
          </a:xfrm>
          <a:prstGeom prst="rect">
            <a:avLst/>
          </a:prstGeom>
          <a:noFill/>
          <a:ln>
            <a:noFill/>
          </a:ln>
        </p:spPr>
      </p:pic>
      <p:pic>
        <p:nvPicPr>
          <p:cNvPr id="156" name="Google Shape;156;p23" title="Untitled 1.jpg"/>
          <p:cNvPicPr preferRelativeResize="0"/>
          <p:nvPr/>
        </p:nvPicPr>
        <p:blipFill>
          <a:blip r:embed="rId4">
            <a:alphaModFix/>
          </a:blip>
          <a:stretch>
            <a:fillRect/>
          </a:stretch>
        </p:blipFill>
        <p:spPr>
          <a:xfrm>
            <a:off x="1318988" y="2009450"/>
            <a:ext cx="1301926" cy="2791405"/>
          </a:xfrm>
          <a:prstGeom prst="rect">
            <a:avLst/>
          </a:prstGeom>
          <a:noFill/>
          <a:ln>
            <a:noFill/>
          </a:ln>
        </p:spPr>
      </p:pic>
      <p:pic>
        <p:nvPicPr>
          <p:cNvPr id="157" name="Google Shape;157;p23" title="Untitled 5.jpg"/>
          <p:cNvPicPr preferRelativeResize="0"/>
          <p:nvPr/>
        </p:nvPicPr>
        <p:blipFill>
          <a:blip r:embed="rId5">
            <a:alphaModFix/>
          </a:blip>
          <a:stretch>
            <a:fillRect/>
          </a:stretch>
        </p:blipFill>
        <p:spPr>
          <a:xfrm>
            <a:off x="2620923" y="2009441"/>
            <a:ext cx="1301926" cy="2791408"/>
          </a:xfrm>
          <a:prstGeom prst="rect">
            <a:avLst/>
          </a:prstGeom>
          <a:noFill/>
          <a:ln>
            <a:noFill/>
          </a:ln>
        </p:spPr>
      </p:pic>
      <p:pic>
        <p:nvPicPr>
          <p:cNvPr id="158" name="Google Shape;158;p23" title="Untitled 2.jpg"/>
          <p:cNvPicPr preferRelativeResize="0"/>
          <p:nvPr/>
        </p:nvPicPr>
        <p:blipFill>
          <a:blip r:embed="rId6">
            <a:alphaModFix/>
          </a:blip>
          <a:stretch>
            <a:fillRect/>
          </a:stretch>
        </p:blipFill>
        <p:spPr>
          <a:xfrm>
            <a:off x="6526687" y="2009463"/>
            <a:ext cx="1301924" cy="2791395"/>
          </a:xfrm>
          <a:prstGeom prst="rect">
            <a:avLst/>
          </a:prstGeom>
          <a:noFill/>
          <a:ln>
            <a:noFill/>
          </a:ln>
        </p:spPr>
      </p:pic>
      <p:pic>
        <p:nvPicPr>
          <p:cNvPr id="159" name="Google Shape;159;p23" title="Untitled 4.jpg"/>
          <p:cNvPicPr preferRelativeResize="0"/>
          <p:nvPr/>
        </p:nvPicPr>
        <p:blipFill>
          <a:blip r:embed="rId7">
            <a:alphaModFix/>
          </a:blip>
          <a:stretch>
            <a:fillRect/>
          </a:stretch>
        </p:blipFill>
        <p:spPr>
          <a:xfrm>
            <a:off x="5224762" y="2009463"/>
            <a:ext cx="1301924" cy="27913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 Technical Features Implemented )</a:t>
            </a:r>
            <a:endParaRPr/>
          </a:p>
        </p:txBody>
      </p:sp>
      <p:sp>
        <p:nvSpPr>
          <p:cNvPr id="165" name="Google Shape;165;p24"/>
          <p:cNvSpPr txBox="1"/>
          <p:nvPr>
            <p:ph idx="1" type="body"/>
          </p:nvPr>
        </p:nvSpPr>
        <p:spPr>
          <a:xfrm>
            <a:off x="727650" y="2090625"/>
            <a:ext cx="7688700" cy="22611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a:t>MVVM</a:t>
            </a:r>
            <a:endParaRPr/>
          </a:p>
          <a:p>
            <a:pPr indent="-298450" lvl="0" marL="457200" rtl="0" algn="l">
              <a:spcBef>
                <a:spcPts val="0"/>
              </a:spcBef>
              <a:spcAft>
                <a:spcPts val="0"/>
              </a:spcAft>
              <a:buClr>
                <a:srgbClr val="000000"/>
              </a:buClr>
              <a:buSzPts val="1100"/>
              <a:buFont typeface="Arial"/>
              <a:buChar char="●"/>
            </a:pPr>
            <a:r>
              <a:rPr lang="en"/>
              <a:t>Room Database</a:t>
            </a:r>
            <a:endParaRPr/>
          </a:p>
          <a:p>
            <a:pPr indent="-298450" lvl="0" marL="457200" rtl="0" algn="l">
              <a:spcBef>
                <a:spcPts val="0"/>
              </a:spcBef>
              <a:spcAft>
                <a:spcPts val="0"/>
              </a:spcAft>
              <a:buClr>
                <a:srgbClr val="000000"/>
              </a:buClr>
              <a:buSzPts val="1100"/>
              <a:buFont typeface="Arial"/>
              <a:buChar char="●"/>
            </a:pPr>
            <a:r>
              <a:rPr lang="en"/>
              <a:t>Firebase Firestore</a:t>
            </a:r>
            <a:endParaRPr/>
          </a:p>
          <a:p>
            <a:pPr indent="-298450" lvl="0" marL="457200" rtl="0" algn="l">
              <a:spcBef>
                <a:spcPts val="0"/>
              </a:spcBef>
              <a:spcAft>
                <a:spcPts val="0"/>
              </a:spcAft>
              <a:buClr>
                <a:srgbClr val="000000"/>
              </a:buClr>
              <a:buSzPts val="1100"/>
              <a:buFont typeface="Arial"/>
              <a:buChar char="●"/>
            </a:pPr>
            <a:r>
              <a:rPr lang="en"/>
              <a:t>Firebase Storage</a:t>
            </a:r>
            <a:endParaRPr/>
          </a:p>
          <a:p>
            <a:pPr indent="-298450" lvl="0" marL="457200" rtl="0" algn="l">
              <a:spcBef>
                <a:spcPts val="0"/>
              </a:spcBef>
              <a:spcAft>
                <a:spcPts val="0"/>
              </a:spcAft>
              <a:buClr>
                <a:srgbClr val="000000"/>
              </a:buClr>
              <a:buSzPts val="1100"/>
              <a:buFont typeface="Arial"/>
              <a:buChar char="●"/>
            </a:pPr>
            <a:r>
              <a:rPr lang="en"/>
              <a:t>Coroutines</a:t>
            </a:r>
            <a:endParaRPr/>
          </a:p>
          <a:p>
            <a:pPr indent="-298450" lvl="0" marL="457200" rtl="0" algn="l">
              <a:spcBef>
                <a:spcPts val="0"/>
              </a:spcBef>
              <a:spcAft>
                <a:spcPts val="0"/>
              </a:spcAft>
              <a:buClr>
                <a:srgbClr val="000000"/>
              </a:buClr>
              <a:buSzPts val="1100"/>
              <a:buFont typeface="Arial"/>
              <a:buChar char="●"/>
            </a:pPr>
            <a:r>
              <a:rPr lang="en"/>
              <a:t>Camera integration</a:t>
            </a:r>
            <a:endParaRPr/>
          </a:p>
          <a:p>
            <a:pPr indent="-298450" lvl="0" marL="457200" rtl="0" algn="l">
              <a:spcBef>
                <a:spcPts val="0"/>
              </a:spcBef>
              <a:spcAft>
                <a:spcPts val="0"/>
              </a:spcAft>
              <a:buClr>
                <a:srgbClr val="000000"/>
              </a:buClr>
              <a:buSzPts val="1100"/>
              <a:buFont typeface="Arial"/>
              <a:buChar char="●"/>
            </a:pPr>
            <a:r>
              <a:rPr lang="en"/>
              <a:t>Reactive UI with StateFlow</a:t>
            </a:r>
            <a:endParaRPr/>
          </a:p>
          <a:p>
            <a:pPr indent="-298450" lvl="0" marL="457200" rtl="0" algn="l">
              <a:spcBef>
                <a:spcPts val="0"/>
              </a:spcBef>
              <a:spcAft>
                <a:spcPts val="0"/>
              </a:spcAft>
              <a:buClr>
                <a:srgbClr val="000000"/>
              </a:buClr>
              <a:buSzPts val="1100"/>
              <a:buFont typeface="Arial"/>
              <a:buChar char="●"/>
            </a:pPr>
            <a:r>
              <a:rPr lang="en"/>
              <a:t>Navigation architecture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727800" y="1812450"/>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Reflection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